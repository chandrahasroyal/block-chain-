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77" r:id="rId5"/>
    <p:sldId id="281" r:id="rId6"/>
    <p:sldId id="258" r:id="rId7"/>
    <p:sldId id="259" r:id="rId8"/>
    <p:sldId id="282" r:id="rId9"/>
    <p:sldId id="260" r:id="rId10"/>
    <p:sldId id="261" r:id="rId11"/>
    <p:sldId id="283" r:id="rId12"/>
    <p:sldId id="284" r:id="rId13"/>
    <p:sldId id="285" r:id="rId14"/>
    <p:sldId id="279"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p:cViewPr varScale="1">
        <p:scale>
          <a:sx n="78" d="100"/>
          <a:sy n="78" d="100"/>
        </p:scale>
        <p:origin x="715"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4/13/2026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4/13/2026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4/13/2026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4/13/2026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4/13/2026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4/13/2026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4/13/2026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4/13/2026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4/13/2026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4/13/2026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4/13/2026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4/13/2026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10654" y="281956"/>
            <a:ext cx="1158849" cy="1273969"/>
          </a:xfrm>
          <a:prstGeom prst="rect">
            <a:avLst/>
          </a:prstGeom>
        </p:spPr>
      </p:pic>
      <p:sp>
        <p:nvSpPr>
          <p:cNvPr id="4" name="object 4"/>
          <p:cNvSpPr txBox="1"/>
          <p:nvPr/>
        </p:nvSpPr>
        <p:spPr>
          <a:xfrm>
            <a:off x="1369504" y="156804"/>
            <a:ext cx="9383014" cy="1450696"/>
          </a:xfrm>
          <a:prstGeom prst="rect">
            <a:avLst/>
          </a:prstGeom>
        </p:spPr>
        <p:txBody>
          <a:bodyPr vert="horz" wrap="square" lIns="0" tIns="147743" rIns="0" bIns="0" rtlCol="0">
            <a:spAutoFit/>
          </a:bodyPr>
          <a:lstStyle/>
          <a:p>
            <a:pPr marL="1018168" algn="ctr">
              <a:spcBef>
                <a:spcPts val="1163"/>
              </a:spcBef>
            </a:pPr>
            <a:r>
              <a:rPr sz="2133" b="1" dirty="0">
                <a:solidFill>
                  <a:srgbClr val="250E5B"/>
                </a:solidFill>
                <a:latin typeface="Times New Roman" panose="02020603050405020304"/>
                <a:cs typeface="Times New Roman" panose="02020603050405020304"/>
              </a:rPr>
              <a:t>MALLA REDDY</a:t>
            </a:r>
            <a:r>
              <a:rPr sz="2133" b="1" spc="3" dirty="0">
                <a:solidFill>
                  <a:srgbClr val="250E5B"/>
                </a:solidFill>
                <a:latin typeface="Times New Roman" panose="02020603050405020304"/>
                <a:cs typeface="Times New Roman" panose="02020603050405020304"/>
              </a:rPr>
              <a:t> </a:t>
            </a:r>
            <a:r>
              <a:rPr sz="2133" b="1" dirty="0">
                <a:solidFill>
                  <a:srgbClr val="250E5B"/>
                </a:solidFill>
                <a:latin typeface="Times New Roman" panose="02020603050405020304"/>
                <a:cs typeface="Times New Roman" panose="02020603050405020304"/>
              </a:rPr>
              <a:t>COLLEGE OF</a:t>
            </a:r>
            <a:r>
              <a:rPr sz="2133" b="1" spc="3" dirty="0">
                <a:solidFill>
                  <a:srgbClr val="250E5B"/>
                </a:solidFill>
                <a:latin typeface="Times New Roman" panose="02020603050405020304"/>
                <a:cs typeface="Times New Roman" panose="02020603050405020304"/>
              </a:rPr>
              <a:t> </a:t>
            </a:r>
            <a:r>
              <a:rPr sz="2133" b="1" spc="-7" dirty="0">
                <a:solidFill>
                  <a:srgbClr val="250E5B"/>
                </a:solidFill>
                <a:latin typeface="Times New Roman" panose="02020603050405020304"/>
                <a:cs typeface="Times New Roman" panose="02020603050405020304"/>
              </a:rPr>
              <a:t>ENGINEERIN</a:t>
            </a:r>
            <a:r>
              <a:rPr lang="en-IN" sz="2133" b="1" spc="-7" dirty="0">
                <a:solidFill>
                  <a:srgbClr val="250E5B"/>
                </a:solidFill>
                <a:latin typeface="Times New Roman" panose="02020603050405020304"/>
                <a:cs typeface="Times New Roman" panose="02020603050405020304"/>
              </a:rPr>
              <a:t>G</a:t>
            </a:r>
            <a:endParaRPr lang="en-US" sz="2133" dirty="0">
              <a:latin typeface="Times New Roman" panose="02020603050405020304"/>
              <a:cs typeface="Times New Roman" panose="02020603050405020304"/>
            </a:endParaRPr>
          </a:p>
          <a:p>
            <a:pPr marL="981336" algn="ctr">
              <a:spcBef>
                <a:spcPts val="757"/>
              </a:spcBef>
            </a:pPr>
            <a:r>
              <a:rPr lang="en-US" sz="1467" b="1" spc="-83" dirty="0">
                <a:solidFill>
                  <a:srgbClr val="E15B08"/>
                </a:solidFill>
                <a:latin typeface="Times New Roman" panose="02020603050405020304"/>
                <a:cs typeface="Times New Roman" panose="02020603050405020304"/>
              </a:rPr>
              <a:t>Approved</a:t>
            </a:r>
            <a:r>
              <a:rPr lang="en-US" sz="1467" b="1" spc="-10" dirty="0">
                <a:solidFill>
                  <a:srgbClr val="E15B08"/>
                </a:solidFill>
                <a:latin typeface="Times New Roman" panose="02020603050405020304"/>
                <a:cs typeface="Times New Roman" panose="02020603050405020304"/>
              </a:rPr>
              <a:t> </a:t>
            </a:r>
            <a:r>
              <a:rPr lang="en-US" sz="1467" b="1" spc="-7" dirty="0">
                <a:solidFill>
                  <a:srgbClr val="E15B08"/>
                </a:solidFill>
                <a:latin typeface="Times New Roman" panose="02020603050405020304"/>
                <a:cs typeface="Times New Roman" panose="02020603050405020304"/>
              </a:rPr>
              <a:t>by</a:t>
            </a:r>
            <a:r>
              <a:rPr lang="en-US" sz="1467" b="1" spc="-83" dirty="0">
                <a:solidFill>
                  <a:srgbClr val="E15B08"/>
                </a:solidFill>
                <a:latin typeface="Times New Roman" panose="02020603050405020304"/>
                <a:cs typeface="Times New Roman" panose="02020603050405020304"/>
              </a:rPr>
              <a:t> </a:t>
            </a:r>
            <a:r>
              <a:rPr lang="en-US" sz="1467" b="1" dirty="0">
                <a:solidFill>
                  <a:srgbClr val="E15B08"/>
                </a:solidFill>
                <a:latin typeface="Times New Roman" panose="02020603050405020304"/>
                <a:cs typeface="Times New Roman" panose="02020603050405020304"/>
              </a:rPr>
              <a:t>AICTE,</a:t>
            </a:r>
            <a:r>
              <a:rPr lang="en-US" sz="1467" b="1" spc="-27" dirty="0">
                <a:solidFill>
                  <a:srgbClr val="E15B08"/>
                </a:solidFill>
                <a:latin typeface="Times New Roman" panose="02020603050405020304"/>
                <a:cs typeface="Times New Roman" panose="02020603050405020304"/>
              </a:rPr>
              <a:t> </a:t>
            </a:r>
            <a:r>
              <a:rPr lang="en-US" sz="1467" b="1" spc="-33" dirty="0">
                <a:solidFill>
                  <a:srgbClr val="E15B08"/>
                </a:solidFill>
                <a:latin typeface="Times New Roman" panose="02020603050405020304"/>
                <a:cs typeface="Times New Roman" panose="02020603050405020304"/>
              </a:rPr>
              <a:t>Permanently</a:t>
            </a:r>
            <a:r>
              <a:rPr lang="en-US" sz="1467" b="1" spc="-23" dirty="0">
                <a:solidFill>
                  <a:srgbClr val="E15B08"/>
                </a:solidFill>
                <a:latin typeface="Times New Roman" panose="02020603050405020304"/>
                <a:cs typeface="Times New Roman" panose="02020603050405020304"/>
              </a:rPr>
              <a:t> </a:t>
            </a:r>
            <a:r>
              <a:rPr lang="en-US" sz="1467" b="1" spc="-17" dirty="0">
                <a:solidFill>
                  <a:srgbClr val="E15B08"/>
                </a:solidFill>
                <a:latin typeface="Times New Roman" panose="02020603050405020304"/>
                <a:cs typeface="Times New Roman" panose="02020603050405020304"/>
              </a:rPr>
              <a:t>Affiliated</a:t>
            </a:r>
            <a:r>
              <a:rPr lang="en-US" sz="1467" b="1" spc="-27" dirty="0">
                <a:solidFill>
                  <a:srgbClr val="E15B08"/>
                </a:solidFill>
                <a:latin typeface="Times New Roman" panose="02020603050405020304"/>
                <a:cs typeface="Times New Roman" panose="02020603050405020304"/>
              </a:rPr>
              <a:t> </a:t>
            </a:r>
            <a:r>
              <a:rPr lang="en-US" sz="1467" b="1" dirty="0">
                <a:solidFill>
                  <a:srgbClr val="E15B08"/>
                </a:solidFill>
                <a:latin typeface="Times New Roman" panose="02020603050405020304"/>
                <a:cs typeface="Times New Roman" panose="02020603050405020304"/>
              </a:rPr>
              <a:t>to</a:t>
            </a:r>
            <a:r>
              <a:rPr lang="en-US" sz="1467" b="1" spc="-23" dirty="0">
                <a:solidFill>
                  <a:srgbClr val="E15B08"/>
                </a:solidFill>
                <a:latin typeface="Times New Roman" panose="02020603050405020304"/>
                <a:cs typeface="Times New Roman" panose="02020603050405020304"/>
              </a:rPr>
              <a:t> </a:t>
            </a:r>
            <a:r>
              <a:rPr lang="en-US" sz="1467" b="1" spc="47" dirty="0">
                <a:solidFill>
                  <a:srgbClr val="E15B08"/>
                </a:solidFill>
                <a:latin typeface="Times New Roman" panose="02020603050405020304"/>
                <a:cs typeface="Times New Roman" panose="02020603050405020304"/>
              </a:rPr>
              <a:t>JNTUH</a:t>
            </a:r>
            <a:r>
              <a:rPr lang="en-US" sz="1467" b="1" spc="-27" dirty="0">
                <a:solidFill>
                  <a:srgbClr val="E15B08"/>
                </a:solidFill>
                <a:latin typeface="Times New Roman" panose="02020603050405020304"/>
                <a:cs typeface="Times New Roman" panose="02020603050405020304"/>
              </a:rPr>
              <a:t> </a:t>
            </a:r>
            <a:r>
              <a:rPr lang="en-US" sz="1467" b="1" spc="-100" dirty="0">
                <a:solidFill>
                  <a:srgbClr val="E15B08"/>
                </a:solidFill>
                <a:latin typeface="Times New Roman" panose="02020603050405020304"/>
                <a:cs typeface="Times New Roman" panose="02020603050405020304"/>
              </a:rPr>
              <a:t>&amp;</a:t>
            </a:r>
            <a:r>
              <a:rPr lang="en-US" sz="1467" b="1" spc="-3" dirty="0">
                <a:solidFill>
                  <a:srgbClr val="E15B08"/>
                </a:solidFill>
                <a:latin typeface="Times New Roman" panose="02020603050405020304"/>
                <a:cs typeface="Times New Roman" panose="02020603050405020304"/>
              </a:rPr>
              <a:t> </a:t>
            </a:r>
            <a:r>
              <a:rPr lang="en-US" sz="1467" b="1" spc="-37" dirty="0">
                <a:solidFill>
                  <a:srgbClr val="E15B08"/>
                </a:solidFill>
                <a:latin typeface="Times New Roman" panose="02020603050405020304"/>
                <a:cs typeface="Times New Roman" panose="02020603050405020304"/>
              </a:rPr>
              <a:t>Accredited</a:t>
            </a:r>
            <a:r>
              <a:rPr lang="en-US" sz="1467" b="1" spc="-23" dirty="0">
                <a:solidFill>
                  <a:srgbClr val="E15B08"/>
                </a:solidFill>
                <a:latin typeface="Times New Roman" panose="02020603050405020304"/>
                <a:cs typeface="Times New Roman" panose="02020603050405020304"/>
              </a:rPr>
              <a:t> </a:t>
            </a:r>
            <a:r>
              <a:rPr lang="en-US" sz="1467" b="1" spc="-7" dirty="0">
                <a:solidFill>
                  <a:srgbClr val="E15B08"/>
                </a:solidFill>
                <a:latin typeface="Times New Roman" panose="02020603050405020304"/>
                <a:cs typeface="Times New Roman" panose="02020603050405020304"/>
              </a:rPr>
              <a:t>by</a:t>
            </a:r>
            <a:r>
              <a:rPr lang="en-US" sz="1467" b="1" spc="-27" dirty="0">
                <a:solidFill>
                  <a:srgbClr val="E15B08"/>
                </a:solidFill>
                <a:latin typeface="Times New Roman" panose="02020603050405020304"/>
                <a:cs typeface="Times New Roman" panose="02020603050405020304"/>
              </a:rPr>
              <a:t> </a:t>
            </a:r>
            <a:r>
              <a:rPr lang="en-US" sz="1467" b="1" dirty="0">
                <a:solidFill>
                  <a:srgbClr val="E15B08"/>
                </a:solidFill>
                <a:latin typeface="Times New Roman" panose="02020603050405020304"/>
                <a:cs typeface="Times New Roman" panose="02020603050405020304"/>
              </a:rPr>
              <a:t>NBA</a:t>
            </a:r>
            <a:r>
              <a:rPr lang="en-US" sz="1467" b="1" spc="-23" dirty="0">
                <a:solidFill>
                  <a:srgbClr val="E15B08"/>
                </a:solidFill>
                <a:latin typeface="Times New Roman" panose="02020603050405020304"/>
                <a:cs typeface="Times New Roman" panose="02020603050405020304"/>
              </a:rPr>
              <a:t> </a:t>
            </a:r>
            <a:r>
              <a:rPr lang="en-US" sz="1467" b="1" spc="-100" dirty="0">
                <a:solidFill>
                  <a:srgbClr val="E15B08"/>
                </a:solidFill>
                <a:latin typeface="Times New Roman" panose="02020603050405020304"/>
                <a:cs typeface="Times New Roman" panose="02020603050405020304"/>
              </a:rPr>
              <a:t>&amp;</a:t>
            </a:r>
            <a:r>
              <a:rPr lang="en-US" sz="1467" b="1" spc="-3" dirty="0">
                <a:solidFill>
                  <a:srgbClr val="E15B08"/>
                </a:solidFill>
                <a:latin typeface="Times New Roman" panose="02020603050405020304"/>
                <a:cs typeface="Times New Roman" panose="02020603050405020304"/>
              </a:rPr>
              <a:t> </a:t>
            </a:r>
            <a:r>
              <a:rPr lang="en-US" sz="1467" b="1" spc="-13" dirty="0">
                <a:solidFill>
                  <a:srgbClr val="E15B08"/>
                </a:solidFill>
                <a:latin typeface="Times New Roman" panose="02020603050405020304"/>
                <a:cs typeface="Times New Roman" panose="02020603050405020304"/>
              </a:rPr>
              <a:t>NAAC</a:t>
            </a:r>
            <a:endParaRPr lang="en-US" sz="1467" dirty="0">
              <a:latin typeface="Times New Roman" panose="02020603050405020304"/>
              <a:cs typeface="Times New Roman" panose="02020603050405020304"/>
            </a:endParaRPr>
          </a:p>
          <a:p>
            <a:pPr marL="2055386" marR="3387" indent="-2047342" algn="ctr">
              <a:lnSpc>
                <a:spcPct val="114000"/>
              </a:lnSpc>
              <a:spcBef>
                <a:spcPts val="993"/>
              </a:spcBef>
            </a:pPr>
            <a:r>
              <a:rPr sz="1533" b="1" spc="-30" dirty="0">
                <a:latin typeface="Times New Roman" panose="02020603050405020304"/>
                <a:cs typeface="Times New Roman" panose="02020603050405020304"/>
              </a:rPr>
              <a:t>Recognized</a:t>
            </a:r>
            <a:r>
              <a:rPr sz="1533" b="1" spc="-67" dirty="0">
                <a:latin typeface="Times New Roman" panose="02020603050405020304"/>
                <a:cs typeface="Times New Roman" panose="02020603050405020304"/>
              </a:rPr>
              <a:t> </a:t>
            </a:r>
            <a:r>
              <a:rPr sz="1533" b="1" spc="-73" dirty="0">
                <a:latin typeface="Times New Roman" panose="02020603050405020304"/>
                <a:cs typeface="Times New Roman" panose="02020603050405020304"/>
              </a:rPr>
              <a:t>under</a:t>
            </a:r>
            <a:r>
              <a:rPr sz="1533" b="1" spc="-23" dirty="0">
                <a:latin typeface="Times New Roman" panose="02020603050405020304"/>
                <a:cs typeface="Times New Roman" panose="02020603050405020304"/>
              </a:rPr>
              <a:t> </a:t>
            </a:r>
            <a:r>
              <a:rPr sz="1533" b="1" dirty="0">
                <a:latin typeface="Times New Roman" panose="02020603050405020304"/>
                <a:cs typeface="Times New Roman" panose="02020603050405020304"/>
              </a:rPr>
              <a:t>Section</a:t>
            </a:r>
            <a:r>
              <a:rPr sz="1533" b="1" spc="-33" dirty="0">
                <a:latin typeface="Times New Roman" panose="02020603050405020304"/>
                <a:cs typeface="Times New Roman" panose="02020603050405020304"/>
              </a:rPr>
              <a:t> </a:t>
            </a:r>
            <a:r>
              <a:rPr sz="1533" b="1" dirty="0">
                <a:latin typeface="Times New Roman" panose="02020603050405020304"/>
                <a:cs typeface="Times New Roman" panose="02020603050405020304"/>
              </a:rPr>
              <a:t>2(f)</a:t>
            </a:r>
            <a:r>
              <a:rPr sz="1533" b="1" spc="-33" dirty="0">
                <a:latin typeface="Times New Roman" panose="02020603050405020304"/>
                <a:cs typeface="Times New Roman" panose="02020603050405020304"/>
              </a:rPr>
              <a:t> </a:t>
            </a:r>
            <a:r>
              <a:rPr sz="1533" b="1" spc="-107" dirty="0">
                <a:latin typeface="Times New Roman" panose="02020603050405020304"/>
                <a:cs typeface="Times New Roman" panose="02020603050405020304"/>
              </a:rPr>
              <a:t>&amp;</a:t>
            </a:r>
            <a:r>
              <a:rPr sz="1533" b="1" spc="-3" dirty="0">
                <a:latin typeface="Times New Roman" panose="02020603050405020304"/>
                <a:cs typeface="Times New Roman" panose="02020603050405020304"/>
              </a:rPr>
              <a:t> </a:t>
            </a:r>
            <a:r>
              <a:rPr sz="1533" b="1" dirty="0">
                <a:latin typeface="Times New Roman" panose="02020603050405020304"/>
                <a:cs typeface="Times New Roman" panose="02020603050405020304"/>
              </a:rPr>
              <a:t>12(B)</a:t>
            </a:r>
            <a:r>
              <a:rPr sz="1533" b="1" spc="-30" dirty="0">
                <a:latin typeface="Times New Roman" panose="02020603050405020304"/>
                <a:cs typeface="Times New Roman" panose="02020603050405020304"/>
              </a:rPr>
              <a:t> </a:t>
            </a:r>
            <a:r>
              <a:rPr sz="1533" b="1" dirty="0">
                <a:latin typeface="Times New Roman" panose="02020603050405020304"/>
                <a:cs typeface="Times New Roman" panose="02020603050405020304"/>
              </a:rPr>
              <a:t>of</a:t>
            </a:r>
            <a:r>
              <a:rPr sz="1533" b="1" spc="70" dirty="0">
                <a:latin typeface="Times New Roman" panose="02020603050405020304"/>
                <a:cs typeface="Times New Roman" panose="02020603050405020304"/>
              </a:rPr>
              <a:t> </a:t>
            </a:r>
            <a:r>
              <a:rPr sz="1533" b="1" spc="-7" dirty="0">
                <a:latin typeface="Times New Roman" panose="02020603050405020304"/>
                <a:cs typeface="Times New Roman" panose="02020603050405020304"/>
              </a:rPr>
              <a:t>the</a:t>
            </a:r>
            <a:r>
              <a:rPr sz="1533" b="1" spc="-30" dirty="0">
                <a:latin typeface="Times New Roman" panose="02020603050405020304"/>
                <a:cs typeface="Times New Roman" panose="02020603050405020304"/>
              </a:rPr>
              <a:t> </a:t>
            </a:r>
            <a:r>
              <a:rPr sz="1533" b="1" dirty="0">
                <a:latin typeface="Times New Roman" panose="02020603050405020304"/>
                <a:cs typeface="Times New Roman" panose="02020603050405020304"/>
              </a:rPr>
              <a:t>UGC</a:t>
            </a:r>
            <a:r>
              <a:rPr sz="1533" b="1" spc="-33" dirty="0">
                <a:latin typeface="Times New Roman" panose="02020603050405020304"/>
                <a:cs typeface="Times New Roman" panose="02020603050405020304"/>
              </a:rPr>
              <a:t> </a:t>
            </a:r>
            <a:r>
              <a:rPr sz="1533" b="1" dirty="0">
                <a:latin typeface="Times New Roman" panose="02020603050405020304"/>
                <a:cs typeface="Times New Roman" panose="02020603050405020304"/>
              </a:rPr>
              <a:t>Act</a:t>
            </a:r>
            <a:r>
              <a:rPr sz="1533" b="1" spc="-30" dirty="0">
                <a:latin typeface="Times New Roman" panose="02020603050405020304"/>
                <a:cs typeface="Times New Roman" panose="02020603050405020304"/>
              </a:rPr>
              <a:t> </a:t>
            </a:r>
            <a:r>
              <a:rPr sz="1533" b="1" dirty="0">
                <a:latin typeface="Times New Roman" panose="02020603050405020304"/>
                <a:cs typeface="Times New Roman" panose="02020603050405020304"/>
              </a:rPr>
              <a:t>1956,</a:t>
            </a:r>
            <a:r>
              <a:rPr sz="1533" b="1" spc="-30" dirty="0">
                <a:latin typeface="Times New Roman" panose="02020603050405020304"/>
                <a:cs typeface="Times New Roman" panose="02020603050405020304"/>
              </a:rPr>
              <a:t> </a:t>
            </a:r>
            <a:r>
              <a:rPr sz="1533" b="1" dirty="0">
                <a:latin typeface="Times New Roman" panose="02020603050405020304"/>
                <a:cs typeface="Times New Roman" panose="02020603050405020304"/>
              </a:rPr>
              <a:t>an</a:t>
            </a:r>
            <a:r>
              <a:rPr sz="1533" b="1" spc="-33" dirty="0">
                <a:latin typeface="Times New Roman" panose="02020603050405020304"/>
                <a:cs typeface="Times New Roman" panose="02020603050405020304"/>
              </a:rPr>
              <a:t> </a:t>
            </a:r>
            <a:r>
              <a:rPr sz="1533" b="1" spc="33" dirty="0">
                <a:latin typeface="Times New Roman" panose="02020603050405020304"/>
                <a:cs typeface="Times New Roman" panose="02020603050405020304"/>
              </a:rPr>
              <a:t>ISO</a:t>
            </a:r>
            <a:r>
              <a:rPr sz="1533" b="1" spc="-30" dirty="0">
                <a:latin typeface="Times New Roman" panose="02020603050405020304"/>
                <a:cs typeface="Times New Roman" panose="02020603050405020304"/>
              </a:rPr>
              <a:t> </a:t>
            </a:r>
            <a:r>
              <a:rPr sz="1533" b="1" spc="-7" dirty="0">
                <a:latin typeface="Times New Roman" panose="02020603050405020304"/>
                <a:cs typeface="Times New Roman" panose="02020603050405020304"/>
              </a:rPr>
              <a:t>9001:2015</a:t>
            </a:r>
            <a:r>
              <a:rPr sz="1533" b="1" spc="-33" dirty="0">
                <a:latin typeface="Times New Roman" panose="02020603050405020304"/>
                <a:cs typeface="Times New Roman" panose="02020603050405020304"/>
              </a:rPr>
              <a:t> </a:t>
            </a:r>
            <a:r>
              <a:rPr sz="1533" b="1" spc="-27" dirty="0">
                <a:latin typeface="Times New Roman" panose="02020603050405020304"/>
                <a:cs typeface="Times New Roman" panose="02020603050405020304"/>
              </a:rPr>
              <a:t>Certified</a:t>
            </a:r>
            <a:r>
              <a:rPr sz="1533" b="1" spc="-30" dirty="0">
                <a:latin typeface="Times New Roman" panose="02020603050405020304"/>
                <a:cs typeface="Times New Roman" panose="02020603050405020304"/>
              </a:rPr>
              <a:t> </a:t>
            </a:r>
            <a:r>
              <a:rPr sz="1533" b="1" spc="-7" dirty="0">
                <a:latin typeface="Times New Roman" panose="02020603050405020304"/>
                <a:cs typeface="Times New Roman" panose="02020603050405020304"/>
              </a:rPr>
              <a:t>Institution </a:t>
            </a:r>
            <a:r>
              <a:rPr sz="1533" b="1" spc="-23" dirty="0">
                <a:latin typeface="Times New Roman" panose="02020603050405020304"/>
                <a:cs typeface="Times New Roman" panose="02020603050405020304"/>
              </a:rPr>
              <a:t>Maisammaguda,</a:t>
            </a:r>
            <a:r>
              <a:rPr sz="1533" b="1" spc="-50" dirty="0">
                <a:latin typeface="Times New Roman" panose="02020603050405020304"/>
                <a:cs typeface="Times New Roman" panose="02020603050405020304"/>
              </a:rPr>
              <a:t> </a:t>
            </a:r>
            <a:r>
              <a:rPr sz="1533" b="1" spc="-30" dirty="0">
                <a:latin typeface="Times New Roman" panose="02020603050405020304"/>
                <a:cs typeface="Times New Roman" panose="02020603050405020304"/>
              </a:rPr>
              <a:t>Dhulapally,</a:t>
            </a:r>
            <a:r>
              <a:rPr sz="1533" b="1" spc="-50" dirty="0">
                <a:latin typeface="Times New Roman" panose="02020603050405020304"/>
                <a:cs typeface="Times New Roman" panose="02020603050405020304"/>
              </a:rPr>
              <a:t> </a:t>
            </a:r>
            <a:r>
              <a:rPr sz="1533" b="1" spc="-33" dirty="0">
                <a:latin typeface="Times New Roman" panose="02020603050405020304"/>
                <a:cs typeface="Times New Roman" panose="02020603050405020304"/>
              </a:rPr>
              <a:t>Hyderabad-</a:t>
            </a:r>
            <a:r>
              <a:rPr sz="1533" b="1" spc="-50" dirty="0">
                <a:latin typeface="Times New Roman" panose="02020603050405020304"/>
                <a:cs typeface="Times New Roman" panose="02020603050405020304"/>
              </a:rPr>
              <a:t> </a:t>
            </a:r>
            <a:r>
              <a:rPr sz="1533" b="1" spc="-7" dirty="0">
                <a:latin typeface="Times New Roman" panose="02020603050405020304"/>
                <a:cs typeface="Times New Roman" panose="02020603050405020304"/>
              </a:rPr>
              <a:t>500100.</a:t>
            </a:r>
            <a:endParaRPr sz="1533" dirty="0">
              <a:latin typeface="Times New Roman" panose="02020603050405020304"/>
              <a:cs typeface="Times New Roman" panose="02020603050405020304"/>
            </a:endParaRPr>
          </a:p>
        </p:txBody>
      </p:sp>
      <p:sp>
        <p:nvSpPr>
          <p:cNvPr id="5" name="object 5"/>
          <p:cNvSpPr txBox="1"/>
          <p:nvPr/>
        </p:nvSpPr>
        <p:spPr>
          <a:xfrm>
            <a:off x="790078" y="1751595"/>
            <a:ext cx="10854271" cy="1910779"/>
          </a:xfrm>
          <a:prstGeom prst="rect">
            <a:avLst/>
          </a:prstGeom>
          <a:solidFill>
            <a:schemeClr val="bg1"/>
          </a:solidFill>
        </p:spPr>
        <p:txBody>
          <a:bodyPr vert="horz" wrap="square" lIns="0" tIns="104140" rIns="0" bIns="0" rtlCol="0">
            <a:spAutoFit/>
          </a:bodyPr>
          <a:lstStyle/>
          <a:p>
            <a:pPr algn="ctr">
              <a:spcBef>
                <a:spcPts val="820"/>
              </a:spcBef>
            </a:pPr>
            <a:r>
              <a:rPr lang="en-IN" sz="2400" b="1" spc="-50" dirty="0">
                <a:solidFill>
                  <a:srgbClr val="E15B08"/>
                </a:solidFill>
                <a:latin typeface="Times New Roman" panose="02020603050405020304"/>
                <a:cs typeface="Times New Roman" panose="02020603050405020304"/>
              </a:rPr>
              <a:t>Department</a:t>
            </a:r>
            <a:r>
              <a:rPr lang="en-IN" sz="2400" b="1" spc="-7" dirty="0">
                <a:solidFill>
                  <a:srgbClr val="E15B08"/>
                </a:solidFill>
                <a:latin typeface="Times New Roman" panose="02020603050405020304"/>
                <a:cs typeface="Times New Roman" panose="02020603050405020304"/>
              </a:rPr>
              <a:t> </a:t>
            </a:r>
            <a:r>
              <a:rPr lang="en-IN" sz="2400" b="1" dirty="0">
                <a:solidFill>
                  <a:srgbClr val="E15B08"/>
                </a:solidFill>
                <a:latin typeface="Times New Roman" panose="02020603050405020304"/>
                <a:cs typeface="Times New Roman" panose="02020603050405020304"/>
              </a:rPr>
              <a:t>of</a:t>
            </a:r>
            <a:r>
              <a:rPr lang="en-IN" sz="2400" b="1" spc="173" dirty="0">
                <a:solidFill>
                  <a:srgbClr val="E15B08"/>
                </a:solidFill>
                <a:latin typeface="Times New Roman" panose="02020603050405020304"/>
                <a:cs typeface="Times New Roman" panose="02020603050405020304"/>
              </a:rPr>
              <a:t> </a:t>
            </a:r>
            <a:r>
              <a:rPr lang="en-IN" sz="2400" b="1" dirty="0">
                <a:solidFill>
                  <a:srgbClr val="E15B08"/>
                </a:solidFill>
                <a:latin typeface="Times New Roman" panose="02020603050405020304"/>
                <a:cs typeface="Times New Roman" panose="02020603050405020304"/>
              </a:rPr>
              <a:t>CSE</a:t>
            </a:r>
            <a:r>
              <a:rPr lang="en-IN" sz="2400" b="1" spc="-3" dirty="0">
                <a:solidFill>
                  <a:srgbClr val="E15B08"/>
                </a:solidFill>
                <a:latin typeface="Times New Roman" panose="02020603050405020304"/>
                <a:cs typeface="Times New Roman" panose="02020603050405020304"/>
              </a:rPr>
              <a:t> </a:t>
            </a:r>
            <a:r>
              <a:rPr lang="en-IN" sz="2400" b="1" dirty="0">
                <a:solidFill>
                  <a:srgbClr val="E15B08"/>
                </a:solidFill>
                <a:latin typeface="Times New Roman" panose="02020603050405020304"/>
                <a:cs typeface="Times New Roman" panose="02020603050405020304"/>
              </a:rPr>
              <a:t>–</a:t>
            </a:r>
            <a:r>
              <a:rPr lang="en-IN" sz="2400" b="1" spc="-7" dirty="0">
                <a:solidFill>
                  <a:srgbClr val="E15B08"/>
                </a:solidFill>
                <a:latin typeface="Times New Roman" panose="02020603050405020304"/>
                <a:cs typeface="Times New Roman" panose="02020603050405020304"/>
              </a:rPr>
              <a:t> </a:t>
            </a:r>
            <a:r>
              <a:rPr lang="en-US" sz="2400" b="1" spc="33" dirty="0">
                <a:solidFill>
                  <a:srgbClr val="E15B08"/>
                </a:solidFill>
                <a:latin typeface="Times New Roman" panose="02020603050405020304"/>
                <a:cs typeface="Times New Roman" panose="02020603050405020304"/>
              </a:rPr>
              <a:t>AM606PC</a:t>
            </a:r>
            <a:r>
              <a:rPr sz="2400" b="1" spc="33" dirty="0">
                <a:solidFill>
                  <a:srgbClr val="E15B08"/>
                </a:solidFill>
                <a:latin typeface="Times New Roman" panose="02020603050405020304"/>
                <a:cs typeface="Times New Roman" panose="02020603050405020304"/>
              </a:rPr>
              <a:t>-</a:t>
            </a:r>
            <a:r>
              <a:rPr lang="en-IN" sz="2400" b="1" spc="33" dirty="0">
                <a:solidFill>
                  <a:srgbClr val="E15B08"/>
                </a:solidFill>
                <a:latin typeface="Times New Roman" panose="02020603050405020304"/>
                <a:cs typeface="Times New Roman" panose="02020603050405020304"/>
              </a:rPr>
              <a:t>Industrial Oriented Mini Project </a:t>
            </a:r>
          </a:p>
          <a:p>
            <a:pPr algn="ctr">
              <a:spcBef>
                <a:spcPts val="820"/>
              </a:spcBef>
            </a:pPr>
            <a:r>
              <a:rPr lang="en-US" sz="3200" b="1" dirty="0"/>
              <a:t>Blockchain-Based</a:t>
            </a:r>
            <a:r>
              <a:rPr lang="en-US" sz="2400" b="1" dirty="0"/>
              <a:t> Secure Lost Data Retrieval and Recovery System Using Cyber Security Techniques</a:t>
            </a:r>
            <a:endParaRPr lang="en-IN" sz="2400" b="1" spc="33" dirty="0">
              <a:solidFill>
                <a:srgbClr val="E15B08"/>
              </a:solidFill>
              <a:latin typeface="Times New Roman" panose="02020603050405020304"/>
              <a:cs typeface="Times New Roman" panose="02020603050405020304"/>
            </a:endParaRPr>
          </a:p>
          <a:p>
            <a:pPr algn="ctr">
              <a:spcBef>
                <a:spcPts val="820"/>
              </a:spcBef>
            </a:pPr>
            <a:endParaRPr lang="en-IN" sz="2400" b="1" spc="33" dirty="0">
              <a:solidFill>
                <a:srgbClr val="E15B08"/>
              </a:solidFill>
              <a:effectLst>
                <a:outerShdw blurRad="38100" dist="38100" dir="2700000" algn="tl">
                  <a:srgbClr val="000000">
                    <a:alpha val="43137"/>
                  </a:srgbClr>
                </a:outerShdw>
              </a:effectLst>
              <a:latin typeface="Times New Roman" panose="02020603050405020304"/>
              <a:cs typeface="Times New Roman" panose="02020603050405020304"/>
            </a:endParaRPr>
          </a:p>
        </p:txBody>
      </p:sp>
      <p:sp>
        <p:nvSpPr>
          <p:cNvPr id="6" name="object 6"/>
          <p:cNvSpPr txBox="1"/>
          <p:nvPr/>
        </p:nvSpPr>
        <p:spPr>
          <a:xfrm>
            <a:off x="4089870" y="5292605"/>
            <a:ext cx="3942281" cy="1111416"/>
          </a:xfrm>
          <a:prstGeom prst="rect">
            <a:avLst/>
          </a:prstGeom>
        </p:spPr>
        <p:txBody>
          <a:bodyPr vert="horz" wrap="square" lIns="0" tIns="59267" rIns="0" bIns="0" rtlCol="0">
            <a:spAutoFit/>
          </a:bodyPr>
          <a:lstStyle/>
          <a:p>
            <a:pPr marL="8467" algn="ctr">
              <a:spcBef>
                <a:spcPts val="467"/>
              </a:spcBef>
            </a:pPr>
            <a:r>
              <a:rPr sz="2000" b="1" spc="97" dirty="0">
                <a:latin typeface="Times New Roman" panose="02020603050405020304"/>
                <a:cs typeface="Times New Roman" panose="02020603050405020304"/>
              </a:rPr>
              <a:t>Under</a:t>
            </a:r>
            <a:r>
              <a:rPr sz="2000" b="1" spc="3" dirty="0">
                <a:latin typeface="Times New Roman" panose="02020603050405020304"/>
                <a:cs typeface="Times New Roman" panose="02020603050405020304"/>
              </a:rPr>
              <a:t> </a:t>
            </a:r>
            <a:r>
              <a:rPr sz="2000" b="1" spc="60" dirty="0">
                <a:latin typeface="Times New Roman" panose="02020603050405020304"/>
                <a:cs typeface="Times New Roman" panose="02020603050405020304"/>
              </a:rPr>
              <a:t>the</a:t>
            </a:r>
            <a:r>
              <a:rPr sz="2000" b="1" spc="7" dirty="0">
                <a:latin typeface="Times New Roman" panose="02020603050405020304"/>
                <a:cs typeface="Times New Roman" panose="02020603050405020304"/>
              </a:rPr>
              <a:t> </a:t>
            </a:r>
            <a:r>
              <a:rPr sz="2000" b="1" spc="43" dirty="0">
                <a:latin typeface="Times New Roman" panose="02020603050405020304"/>
                <a:cs typeface="Times New Roman" panose="02020603050405020304"/>
              </a:rPr>
              <a:t>guidance</a:t>
            </a:r>
            <a:r>
              <a:rPr sz="2000" b="1" spc="7" dirty="0">
                <a:latin typeface="Times New Roman" panose="02020603050405020304"/>
                <a:cs typeface="Times New Roman" panose="02020603050405020304"/>
              </a:rPr>
              <a:t> </a:t>
            </a:r>
            <a:r>
              <a:rPr sz="2000" b="1" spc="30" dirty="0">
                <a:latin typeface="Times New Roman" panose="02020603050405020304"/>
                <a:cs typeface="Times New Roman" panose="02020603050405020304"/>
              </a:rPr>
              <a:t>of</a:t>
            </a:r>
            <a:endParaRPr lang="en-US" sz="2000" b="1" spc="30" dirty="0">
              <a:latin typeface="Times New Roman" panose="02020603050405020304"/>
              <a:cs typeface="Times New Roman" panose="02020603050405020304"/>
            </a:endParaRPr>
          </a:p>
          <a:p>
            <a:pPr marL="8467" algn="ctr">
              <a:spcBef>
                <a:spcPts val="467"/>
              </a:spcBef>
            </a:pPr>
            <a:r>
              <a:rPr lang="it-IT" spc="33" dirty="0">
                <a:latin typeface="Times New Roman" panose="02020603050405020304" pitchFamily="18" charset="0"/>
                <a:cs typeface="Times New Roman" panose="02020603050405020304" pitchFamily="18" charset="0"/>
              </a:rPr>
              <a:t>Koteswara Rao kumbha</a:t>
            </a:r>
          </a:p>
          <a:p>
            <a:pPr marL="8467" algn="ctr">
              <a:spcBef>
                <a:spcPts val="467"/>
              </a:spcBef>
            </a:pPr>
            <a:r>
              <a:rPr lang="en-IN" sz="2000" dirty="0">
                <a:latin typeface="Times New Roman" panose="02020603050405020304"/>
                <a:cs typeface="Times New Roman" panose="02020603050405020304"/>
              </a:rPr>
              <a:t>Assistant Professor</a:t>
            </a:r>
            <a:endParaRPr sz="2000" dirty="0">
              <a:latin typeface="Times New Roman" panose="02020603050405020304"/>
              <a:cs typeface="Times New Roman" panose="02020603050405020304"/>
            </a:endParaRPr>
          </a:p>
        </p:txBody>
      </p:sp>
      <p:graphicFrame>
        <p:nvGraphicFramePr>
          <p:cNvPr id="8" name="Table 7">
            <a:extLst>
              <a:ext uri="{FF2B5EF4-FFF2-40B4-BE49-F238E27FC236}">
                <a16:creationId xmlns:a16="http://schemas.microsoft.com/office/drawing/2014/main" id="{6403BFEF-56ED-FC77-91F4-23351B9FE29F}"/>
              </a:ext>
            </a:extLst>
          </p:cNvPr>
          <p:cNvGraphicFramePr>
            <a:graphicFrameLocks noGrp="1"/>
          </p:cNvGraphicFramePr>
          <p:nvPr>
            <p:extLst>
              <p:ext uri="{D42A27DB-BD31-4B8C-83A1-F6EECF244321}">
                <p14:modId xmlns:p14="http://schemas.microsoft.com/office/powerpoint/2010/main" val="2686189204"/>
              </p:ext>
            </p:extLst>
          </p:nvPr>
        </p:nvGraphicFramePr>
        <p:xfrm>
          <a:off x="2939969" y="3331315"/>
          <a:ext cx="6285053" cy="1860513"/>
        </p:xfrm>
        <a:graphic>
          <a:graphicData uri="http://schemas.openxmlformats.org/drawingml/2006/table">
            <a:tbl>
              <a:tblPr firstRow="1" bandRow="1">
                <a:tableStyleId>{5C22544A-7EE6-4342-B048-85BDC9FD1C3A}</a:tableStyleId>
              </a:tblPr>
              <a:tblGrid>
                <a:gridCol w="3890111">
                  <a:extLst>
                    <a:ext uri="{9D8B030D-6E8A-4147-A177-3AD203B41FA5}">
                      <a16:colId xmlns:a16="http://schemas.microsoft.com/office/drawing/2014/main" val="2080387593"/>
                    </a:ext>
                  </a:extLst>
                </a:gridCol>
                <a:gridCol w="2394942">
                  <a:extLst>
                    <a:ext uri="{9D8B030D-6E8A-4147-A177-3AD203B41FA5}">
                      <a16:colId xmlns:a16="http://schemas.microsoft.com/office/drawing/2014/main" val="1183116056"/>
                    </a:ext>
                  </a:extLst>
                </a:gridCol>
              </a:tblGrid>
              <a:tr h="393407">
                <a:tc gridSpan="2">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2400" dirty="0">
                          <a:solidFill>
                            <a:schemeClr val="tx1"/>
                          </a:solidFill>
                          <a:latin typeface="Times New Roman" panose="02020603050405020304"/>
                          <a:cs typeface="Times New Roman" panose="02020603050405020304"/>
                        </a:rPr>
                        <a:t>Team</a:t>
                      </a:r>
                      <a:r>
                        <a:rPr lang="en-IN" sz="2400" spc="170" dirty="0">
                          <a:solidFill>
                            <a:schemeClr val="tx1"/>
                          </a:solidFill>
                          <a:latin typeface="Times New Roman" panose="02020603050405020304"/>
                          <a:cs typeface="Times New Roman" panose="02020603050405020304"/>
                        </a:rPr>
                        <a:t> </a:t>
                      </a:r>
                      <a:r>
                        <a:rPr lang="en-IN" sz="2400" spc="80" dirty="0">
                          <a:solidFill>
                            <a:schemeClr val="tx1"/>
                          </a:solidFill>
                          <a:latin typeface="Times New Roman" panose="02020603050405020304"/>
                          <a:cs typeface="Times New Roman" panose="02020603050405020304"/>
                        </a:rPr>
                        <a:t>Members</a:t>
                      </a:r>
                      <a:r>
                        <a:rPr lang="en-IN" sz="2400" spc="80" baseline="0" dirty="0">
                          <a:solidFill>
                            <a:schemeClr val="tx1"/>
                          </a:solidFill>
                          <a:latin typeface="Times New Roman" panose="02020603050405020304"/>
                          <a:cs typeface="Times New Roman" panose="02020603050405020304"/>
                        </a:rPr>
                        <a:t> </a:t>
                      </a:r>
                      <a:r>
                        <a:rPr lang="en-IN" sz="2400" spc="80" dirty="0">
                          <a:solidFill>
                            <a:schemeClr val="tx1"/>
                          </a:solidFill>
                          <a:latin typeface="Times New Roman" panose="02020603050405020304"/>
                          <a:cs typeface="Times New Roman" panose="02020603050405020304"/>
                        </a:rPr>
                        <a:t>III-A Batch</a:t>
                      </a:r>
                      <a:r>
                        <a:rPr lang="en-IN" sz="2400" spc="80" baseline="0" dirty="0">
                          <a:solidFill>
                            <a:schemeClr val="tx1"/>
                          </a:solidFill>
                          <a:latin typeface="Times New Roman" panose="02020603050405020304"/>
                          <a:cs typeface="Times New Roman" panose="02020603050405020304"/>
                        </a:rPr>
                        <a:t> No:9</a:t>
                      </a:r>
                      <a:endParaRPr lang="en-US" sz="2400" spc="80" dirty="0">
                        <a:solidFill>
                          <a:schemeClr val="tx1"/>
                        </a:solidFill>
                        <a:latin typeface="Times New Roman" panose="02020603050405020304"/>
                        <a:cs typeface="Times New Roman" panose="02020603050405020304"/>
                        <a:sym typeface="Wingdings" panose="05000000000000000000" pitchFamily="2" charset="2"/>
                      </a:endParaRPr>
                    </a:p>
                  </a:txBody>
                  <a:tcPr marL="60960" marR="60960" marT="30480" marB="304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a:endParaRPr lang="en-IN" sz="2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42732275"/>
                  </a:ext>
                </a:extLst>
              </a:tr>
              <a:tr h="345440">
                <a:tc>
                  <a:txBody>
                    <a:bodyPr/>
                    <a:lstStyle/>
                    <a:p>
                      <a:pPr algn="l"/>
                      <a:r>
                        <a:rPr lang="en-US" sz="1900" dirty="0">
                          <a:solidFill>
                            <a:schemeClr val="tx1"/>
                          </a:solidFill>
                          <a:latin typeface="Times New Roman" panose="02020603050405020304" pitchFamily="18" charset="0"/>
                          <a:cs typeface="Times New Roman" panose="02020603050405020304" pitchFamily="18" charset="0"/>
                        </a:rPr>
                        <a:t>Chandrahas                       -</a:t>
                      </a:r>
                      <a:endParaRPr lang="en-IN" sz="1900" dirty="0">
                        <a:solidFill>
                          <a:schemeClr val="tx1"/>
                        </a:solidFill>
                      </a:endParaRPr>
                    </a:p>
                  </a:txBody>
                  <a:tcPr marL="60960" marR="60960" marT="30480" marB="304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900" dirty="0">
                          <a:solidFill>
                            <a:schemeClr val="tx1"/>
                          </a:solidFill>
                          <a:latin typeface="Times New Roman" panose="02020603050405020304" pitchFamily="18" charset="0"/>
                          <a:cs typeface="Times New Roman" panose="02020603050405020304" pitchFamily="18" charset="0"/>
                        </a:rPr>
                        <a:t>[23Q91A0551] </a:t>
                      </a:r>
                    </a:p>
                  </a:txBody>
                  <a:tcPr marL="60960" marR="60960" marT="30480" marB="304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47571349"/>
                  </a:ext>
                </a:extLst>
              </a:tr>
              <a:tr h="361091">
                <a:tc>
                  <a:txBody>
                    <a:bodyPr/>
                    <a:lstStyle/>
                    <a:p>
                      <a:pPr algn="l"/>
                      <a:r>
                        <a:rPr lang="en-US" sz="1900" dirty="0">
                          <a:solidFill>
                            <a:schemeClr val="tx1"/>
                          </a:solidFill>
                          <a:latin typeface="Times New Roman" panose="02020603050405020304" pitchFamily="18" charset="0"/>
                          <a:cs typeface="Times New Roman" panose="02020603050405020304" pitchFamily="18" charset="0"/>
                        </a:rPr>
                        <a:t>Maheshwari                      -</a:t>
                      </a:r>
                      <a:endParaRPr lang="en-IN" sz="1900" dirty="0">
                        <a:solidFill>
                          <a:schemeClr val="tx1"/>
                        </a:solidFill>
                      </a:endParaRPr>
                    </a:p>
                  </a:txBody>
                  <a:tcPr marL="60960" marR="60960" marT="30480" marB="304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900" dirty="0">
                          <a:solidFill>
                            <a:schemeClr val="tx1"/>
                          </a:solidFill>
                          <a:latin typeface="Times New Roman" panose="02020603050405020304" pitchFamily="18" charset="0"/>
                          <a:cs typeface="Times New Roman" panose="02020603050405020304" pitchFamily="18" charset="0"/>
                        </a:rPr>
                        <a:t>[23Q91A0517] </a:t>
                      </a:r>
                    </a:p>
                  </a:txBody>
                  <a:tcPr marL="60960" marR="60960" marT="30480" marB="304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10342085"/>
                  </a:ext>
                </a:extLst>
              </a:tr>
              <a:tr h="361091">
                <a:tc>
                  <a:txBody>
                    <a:bodyPr/>
                    <a:lstStyle/>
                    <a:p>
                      <a:pPr algn="l"/>
                      <a:r>
                        <a:rPr lang="en-US" sz="1900" dirty="0">
                          <a:solidFill>
                            <a:schemeClr val="tx1"/>
                          </a:solidFill>
                          <a:latin typeface="Times New Roman" panose="02020603050405020304" pitchFamily="18" charset="0"/>
                          <a:cs typeface="Times New Roman" panose="02020603050405020304" pitchFamily="18" charset="0"/>
                        </a:rPr>
                        <a:t>Premkumar                       -</a:t>
                      </a:r>
                      <a:endParaRPr lang="en-IN" sz="1900" dirty="0">
                        <a:solidFill>
                          <a:schemeClr val="tx1"/>
                        </a:solidFill>
                      </a:endParaRPr>
                    </a:p>
                  </a:txBody>
                  <a:tcPr marL="60960" marR="60960" marT="30480" marB="304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900" dirty="0">
                          <a:solidFill>
                            <a:schemeClr val="tx1"/>
                          </a:solidFill>
                          <a:latin typeface="Times New Roman" panose="02020603050405020304" pitchFamily="18" charset="0"/>
                          <a:cs typeface="Times New Roman" panose="02020603050405020304" pitchFamily="18" charset="0"/>
                        </a:rPr>
                        <a:t>[23Q91A0535] </a:t>
                      </a:r>
                    </a:p>
                  </a:txBody>
                  <a:tcPr marL="60960" marR="60960" marT="30480" marB="304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6767592"/>
                  </a:ext>
                </a:extLst>
              </a:tr>
              <a:tr h="361091">
                <a:tc>
                  <a:txBody>
                    <a:bodyPr/>
                    <a:lstStyle/>
                    <a:p>
                      <a:pPr algn="l"/>
                      <a:r>
                        <a:rPr lang="en-US" sz="1900" dirty="0">
                          <a:solidFill>
                            <a:schemeClr val="tx1"/>
                          </a:solidFill>
                          <a:latin typeface="Times New Roman" panose="02020603050405020304" pitchFamily="18" charset="0"/>
                          <a:cs typeface="Times New Roman" panose="02020603050405020304" pitchFamily="18" charset="0"/>
                        </a:rPr>
                        <a:t>Vishal                                -</a:t>
                      </a:r>
                      <a:endParaRPr lang="en-IN" sz="1900" dirty="0">
                        <a:solidFill>
                          <a:schemeClr val="tx1"/>
                        </a:solidFill>
                      </a:endParaRPr>
                    </a:p>
                  </a:txBody>
                  <a:tcPr marL="60960" marR="60960" marT="30480" marB="304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900" dirty="0">
                          <a:solidFill>
                            <a:schemeClr val="tx1"/>
                          </a:solidFill>
                          <a:latin typeface="Times New Roman" panose="02020603050405020304" pitchFamily="18" charset="0"/>
                          <a:cs typeface="Times New Roman" panose="02020603050405020304" pitchFamily="18" charset="0"/>
                        </a:rPr>
                        <a:t>[23Q91A0562] </a:t>
                      </a:r>
                    </a:p>
                  </a:txBody>
                  <a:tcPr marL="60960" marR="60960" marT="30480" marB="304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16861888"/>
                  </a:ext>
                </a:extLst>
              </a:tr>
            </a:tbl>
          </a:graphicData>
        </a:graphic>
      </p:graphicFrame>
      <p:pic>
        <p:nvPicPr>
          <p:cNvPr id="10" name="object 2"/>
          <p:cNvPicPr/>
          <p:nvPr/>
        </p:nvPicPr>
        <p:blipFill>
          <a:blip r:embed="rId2" cstate="print"/>
          <a:stretch>
            <a:fillRect/>
          </a:stretch>
        </p:blipFill>
        <p:spPr>
          <a:xfrm>
            <a:off x="238084" y="190478"/>
            <a:ext cx="1316396" cy="1450696"/>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6A2FC-CFD5-5DE3-14AB-1597F8BAB186}"/>
              </a:ext>
            </a:extLst>
          </p:cNvPr>
          <p:cNvSpPr>
            <a:spLocks noGrp="1"/>
          </p:cNvSpPr>
          <p:nvPr>
            <p:ph type="title"/>
          </p:nvPr>
        </p:nvSpPr>
        <p:spPr/>
        <p:txBody>
          <a:bodyPr/>
          <a:lstStyle/>
          <a:p>
            <a:r>
              <a:rPr lang="en-US" dirty="0"/>
              <a:t>LIST OF CONTENTS</a:t>
            </a:r>
            <a:endParaRPr lang="en-IN" dirty="0"/>
          </a:p>
        </p:txBody>
      </p:sp>
      <p:sp>
        <p:nvSpPr>
          <p:cNvPr id="3" name="Content Placeholder 2">
            <a:extLst>
              <a:ext uri="{FF2B5EF4-FFF2-40B4-BE49-F238E27FC236}">
                <a16:creationId xmlns:a16="http://schemas.microsoft.com/office/drawing/2014/main" id="{7621BD47-84BA-CB63-916F-39C016CB28E6}"/>
              </a:ext>
            </a:extLst>
          </p:cNvPr>
          <p:cNvSpPr>
            <a:spLocks noGrp="1"/>
          </p:cNvSpPr>
          <p:nvPr>
            <p:ph sz="half" idx="1"/>
          </p:nvPr>
        </p:nvSpPr>
        <p:spPr>
          <a:xfrm>
            <a:off x="1097280" y="2120900"/>
            <a:ext cx="4639736" cy="4117854"/>
          </a:xfrm>
        </p:spPr>
        <p:txBody>
          <a:bodyPr>
            <a:normAutofit fontScale="92500" lnSpcReduction="10000"/>
          </a:bodyPr>
          <a:lstStyle/>
          <a:p>
            <a:pPr>
              <a:buClr>
                <a:schemeClr val="tx1"/>
              </a:buClr>
              <a:buSzPct val="126000"/>
              <a:buFont typeface="Wingdings" panose="05000000000000000000" pitchFamily="2" charset="2"/>
              <a:buChar char="Ø"/>
            </a:pPr>
            <a:r>
              <a:rPr lang="en-US" b="1" dirty="0"/>
              <a:t>Abstract</a:t>
            </a:r>
          </a:p>
          <a:p>
            <a:pPr>
              <a:buClr>
                <a:schemeClr val="tx1"/>
              </a:buClr>
              <a:buSzPct val="126000"/>
              <a:buFont typeface="Wingdings" panose="05000000000000000000" pitchFamily="2" charset="2"/>
              <a:buChar char="Ø"/>
            </a:pPr>
            <a:r>
              <a:rPr lang="en-US" b="1" dirty="0"/>
              <a:t>Introduction</a:t>
            </a:r>
          </a:p>
          <a:p>
            <a:pPr>
              <a:buClr>
                <a:schemeClr val="tx1"/>
              </a:buClr>
              <a:buSzPct val="126000"/>
              <a:buFont typeface="Wingdings" panose="05000000000000000000" pitchFamily="2" charset="2"/>
              <a:buChar char="Ø"/>
            </a:pPr>
            <a:r>
              <a:rPr lang="en-US" b="1" dirty="0"/>
              <a:t>Literature survey</a:t>
            </a:r>
          </a:p>
          <a:p>
            <a:pPr>
              <a:buClr>
                <a:schemeClr val="tx1"/>
              </a:buClr>
              <a:buSzPct val="126000"/>
              <a:buFont typeface="Wingdings" panose="05000000000000000000" pitchFamily="2" charset="2"/>
              <a:buChar char="Ø"/>
            </a:pPr>
            <a:r>
              <a:rPr lang="en-US" b="1" dirty="0"/>
              <a:t>Objectives</a:t>
            </a:r>
          </a:p>
          <a:p>
            <a:pPr>
              <a:buClr>
                <a:schemeClr val="tx1"/>
              </a:buClr>
              <a:buSzPct val="126000"/>
              <a:buFont typeface="Wingdings" panose="05000000000000000000" pitchFamily="2" charset="2"/>
              <a:buChar char="Ø"/>
            </a:pPr>
            <a:r>
              <a:rPr lang="en-US" b="1" dirty="0"/>
              <a:t>External System</a:t>
            </a:r>
          </a:p>
          <a:p>
            <a:pPr>
              <a:buClr>
                <a:schemeClr val="tx1"/>
              </a:buClr>
              <a:buSzPct val="126000"/>
              <a:buFont typeface="Wingdings" panose="05000000000000000000" pitchFamily="2" charset="2"/>
              <a:buChar char="Ø"/>
            </a:pPr>
            <a:r>
              <a:rPr lang="en-US" b="1" dirty="0"/>
              <a:t>Proposed System</a:t>
            </a:r>
          </a:p>
          <a:p>
            <a:pPr>
              <a:buClr>
                <a:schemeClr val="tx1"/>
              </a:buClr>
              <a:buSzPct val="126000"/>
              <a:buFont typeface="Wingdings" panose="05000000000000000000" pitchFamily="2" charset="2"/>
              <a:buChar char="Ø"/>
            </a:pPr>
            <a:r>
              <a:rPr lang="en-IN" b="1" dirty="0"/>
              <a:t>System Requirement</a:t>
            </a:r>
          </a:p>
          <a:p>
            <a:pPr>
              <a:buClr>
                <a:schemeClr val="tx1"/>
              </a:buClr>
              <a:buSzPct val="126000"/>
              <a:buFont typeface="Wingdings" panose="05000000000000000000" pitchFamily="2" charset="2"/>
              <a:buChar char="Ø"/>
            </a:pPr>
            <a:r>
              <a:rPr lang="en-IN" b="1" dirty="0"/>
              <a:t>Conclusion</a:t>
            </a:r>
          </a:p>
          <a:p>
            <a:pPr>
              <a:buClr>
                <a:schemeClr val="tx1"/>
              </a:buClr>
              <a:buSzPct val="126000"/>
              <a:buFont typeface="Wingdings" panose="05000000000000000000" pitchFamily="2" charset="2"/>
              <a:buChar char="Ø"/>
            </a:pPr>
            <a:r>
              <a:rPr lang="en-IN" b="1"/>
              <a:t>Refrences</a:t>
            </a:r>
            <a:endParaRPr lang="en-IN" b="1" dirty="0"/>
          </a:p>
        </p:txBody>
      </p:sp>
      <p:pic>
        <p:nvPicPr>
          <p:cNvPr id="9" name="Content Placeholder 8">
            <a:extLst>
              <a:ext uri="{FF2B5EF4-FFF2-40B4-BE49-F238E27FC236}">
                <a16:creationId xmlns:a16="http://schemas.microsoft.com/office/drawing/2014/main" id="{23DDCC3C-A8C6-53FC-C3D4-7C143A69FA9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162310" y="2446629"/>
            <a:ext cx="5993054" cy="3521463"/>
          </a:xfrm>
          <a:prstGeom prst="rect">
            <a:avLst/>
          </a:prstGeom>
        </p:spPr>
      </p:pic>
    </p:spTree>
    <p:extLst>
      <p:ext uri="{BB962C8B-B14F-4D97-AF65-F5344CB8AC3E}">
        <p14:creationId xmlns:p14="http://schemas.microsoft.com/office/powerpoint/2010/main" val="37986008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9A179AA-D028-6302-D0DF-3FB820F57672}"/>
              </a:ext>
            </a:extLst>
          </p:cNvPr>
          <p:cNvSpPr>
            <a:spLocks noGrp="1"/>
          </p:cNvSpPr>
          <p:nvPr>
            <p:ph type="title"/>
          </p:nvPr>
        </p:nvSpPr>
        <p:spPr>
          <a:xfrm>
            <a:off x="834189" y="144379"/>
            <a:ext cx="10321491" cy="1026695"/>
          </a:xfrm>
        </p:spPr>
        <p:txBody>
          <a:bodyPr/>
          <a:lstStyle/>
          <a:p>
            <a:r>
              <a:rPr lang="en-US" dirty="0"/>
              <a:t>ABSTRACT</a:t>
            </a:r>
            <a:endParaRPr lang="en-IN" dirty="0"/>
          </a:p>
        </p:txBody>
      </p:sp>
      <p:sp>
        <p:nvSpPr>
          <p:cNvPr id="7" name="Content Placeholder 6">
            <a:extLst>
              <a:ext uri="{FF2B5EF4-FFF2-40B4-BE49-F238E27FC236}">
                <a16:creationId xmlns:a16="http://schemas.microsoft.com/office/drawing/2014/main" id="{FA92F423-CC6C-C991-0214-FCCEDFB4F2EB}"/>
              </a:ext>
            </a:extLst>
          </p:cNvPr>
          <p:cNvSpPr>
            <a:spLocks noGrp="1"/>
          </p:cNvSpPr>
          <p:nvPr>
            <p:ph sz="half" idx="1"/>
          </p:nvPr>
        </p:nvSpPr>
        <p:spPr>
          <a:xfrm>
            <a:off x="1241657" y="1944437"/>
            <a:ext cx="5592279" cy="3748193"/>
          </a:xfrm>
        </p:spPr>
        <p:txBody>
          <a:bodyPr/>
          <a:lstStyle/>
          <a:p>
            <a:pPr algn="just"/>
            <a:r>
              <a:rPr lang="en-US" dirty="0"/>
              <a:t>Data loss can happen because of cyberattacks, system crashes, accidental deletion, or hardware problems. Traditional data recovery systems are usually centralized, which means they can be easily attacked or fail if the main server stops working. To solve this problem, this project proposes a </a:t>
            </a:r>
            <a:r>
              <a:rPr lang="en-US" b="1" dirty="0"/>
              <a:t>Blockchain-Based Secure Lost Data Retrieval and Recovery System</a:t>
            </a:r>
            <a:r>
              <a:rPr lang="en-US" dirty="0"/>
              <a:t>.</a:t>
            </a:r>
            <a:endParaRPr lang="en-IN" dirty="0"/>
          </a:p>
        </p:txBody>
      </p:sp>
      <p:pic>
        <p:nvPicPr>
          <p:cNvPr id="10" name="Content Placeholder 9">
            <a:extLst>
              <a:ext uri="{FF2B5EF4-FFF2-40B4-BE49-F238E27FC236}">
                <a16:creationId xmlns:a16="http://schemas.microsoft.com/office/drawing/2014/main" id="{1851C644-E808-1E2E-994B-901BC0715FA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674769" y="2364829"/>
            <a:ext cx="3057525" cy="3405350"/>
          </a:xfrm>
          <a:prstGeom prst="rect">
            <a:avLst/>
          </a:prstGeom>
        </p:spPr>
      </p:pic>
    </p:spTree>
    <p:extLst>
      <p:ext uri="{BB962C8B-B14F-4D97-AF65-F5344CB8AC3E}">
        <p14:creationId xmlns:p14="http://schemas.microsoft.com/office/powerpoint/2010/main" val="1917146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DF18C-4EF3-8046-9674-BAD76FECD748}"/>
              </a:ext>
            </a:extLst>
          </p:cNvPr>
          <p:cNvSpPr>
            <a:spLocks noGrp="1"/>
          </p:cNvSpPr>
          <p:nvPr>
            <p:ph type="title"/>
          </p:nvPr>
        </p:nvSpPr>
        <p:spPr>
          <a:xfrm>
            <a:off x="960922" y="208547"/>
            <a:ext cx="10058400" cy="890337"/>
          </a:xfrm>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AFE5E15F-8AC2-E4B1-62F5-88DA972A188F}"/>
              </a:ext>
            </a:extLst>
          </p:cNvPr>
          <p:cNvSpPr>
            <a:spLocks noGrp="1"/>
          </p:cNvSpPr>
          <p:nvPr>
            <p:ph sz="half" idx="1"/>
          </p:nvPr>
        </p:nvSpPr>
        <p:spPr>
          <a:xfrm>
            <a:off x="834188" y="2399071"/>
            <a:ext cx="5782922" cy="3618271"/>
          </a:xfrm>
        </p:spPr>
        <p:txBody>
          <a:bodyPr/>
          <a:lstStyle/>
          <a:p>
            <a:pPr algn="just"/>
            <a:r>
              <a:rPr lang="en-US" dirty="0"/>
              <a:t>In today’s digital world, a large amount of data is stored and shared through computers, cloud systems, and online platforms. This data is very important for individuals, organizations, and businesses. However, data can sometimes be lost due to </a:t>
            </a:r>
            <a:r>
              <a:rPr lang="en-US" b="1" dirty="0"/>
              <a:t>cyberattacks, system failures, accidental deletion, hardware damage, or software errors</a:t>
            </a:r>
            <a:r>
              <a:rPr lang="en-US" dirty="0"/>
              <a:t>. Losing important data can cause serious problems such as financial loss, privacy issues, and disruption of services.</a:t>
            </a:r>
            <a:endParaRPr lang="en-IN" dirty="0"/>
          </a:p>
        </p:txBody>
      </p:sp>
      <p:pic>
        <p:nvPicPr>
          <p:cNvPr id="6" name="Content Placeholder 5">
            <a:extLst>
              <a:ext uri="{FF2B5EF4-FFF2-40B4-BE49-F238E27FC236}">
                <a16:creationId xmlns:a16="http://schemas.microsoft.com/office/drawing/2014/main" id="{FA49117A-05AD-611E-893C-C91A7B36683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945149" y="2094128"/>
            <a:ext cx="3704458" cy="3996558"/>
          </a:xfrm>
          <a:prstGeom prst="rect">
            <a:avLst/>
          </a:prstGeom>
        </p:spPr>
      </p:pic>
    </p:spTree>
    <p:extLst>
      <p:ext uri="{BB962C8B-B14F-4D97-AF65-F5344CB8AC3E}">
        <p14:creationId xmlns:p14="http://schemas.microsoft.com/office/powerpoint/2010/main" val="28310873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F8F44-A468-7B09-987C-45060A9A05D5}"/>
              </a:ext>
            </a:extLst>
          </p:cNvPr>
          <p:cNvSpPr>
            <a:spLocks noGrp="1"/>
          </p:cNvSpPr>
          <p:nvPr>
            <p:ph type="title"/>
          </p:nvPr>
        </p:nvSpPr>
        <p:spPr/>
        <p:txBody>
          <a:bodyPr/>
          <a:lstStyle/>
          <a:p>
            <a:r>
              <a:rPr lang="en-US" dirty="0"/>
              <a:t>OBJECTIVES</a:t>
            </a:r>
            <a:endParaRPr lang="en-IN" dirty="0"/>
          </a:p>
        </p:txBody>
      </p:sp>
      <p:pic>
        <p:nvPicPr>
          <p:cNvPr id="7" name="Content Placeholder 6">
            <a:extLst>
              <a:ext uri="{FF2B5EF4-FFF2-40B4-BE49-F238E27FC236}">
                <a16:creationId xmlns:a16="http://schemas.microsoft.com/office/drawing/2014/main" id="{C1A17E11-DF05-C57E-FEF3-3E5D45760C6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944811" y="2430684"/>
            <a:ext cx="3889094" cy="3410974"/>
          </a:xfrm>
          <a:prstGeom prst="rect">
            <a:avLst/>
          </a:prstGeom>
        </p:spPr>
      </p:pic>
      <p:sp>
        <p:nvSpPr>
          <p:cNvPr id="5" name="Rectangle 1">
            <a:extLst>
              <a:ext uri="{FF2B5EF4-FFF2-40B4-BE49-F238E27FC236}">
                <a16:creationId xmlns:a16="http://schemas.microsoft.com/office/drawing/2014/main" id="{5AB4A0A7-5942-C36D-B2A2-183B420DEFA1}"/>
              </a:ext>
            </a:extLst>
          </p:cNvPr>
          <p:cNvSpPr>
            <a:spLocks noGrp="1" noChangeArrowheads="1"/>
          </p:cNvSpPr>
          <p:nvPr>
            <p:ph sz="half" idx="1"/>
          </p:nvPr>
        </p:nvSpPr>
        <p:spPr bwMode="auto">
          <a:xfrm>
            <a:off x="347242" y="2148339"/>
            <a:ext cx="5995686"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buSzTx/>
              <a:buFont typeface="Wingdings" panose="05000000000000000000" pitchFamily="2" charset="2"/>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buFont typeface="Wingdings" panose="05000000000000000000" pitchFamily="2" charset="2"/>
              <a:buChar char="§"/>
            </a:pPr>
            <a:r>
              <a:rPr kumimoji="0" lang="en-US" altLang="en-US" sz="1800" b="0" i="0" u="none" strike="noStrike" cap="none" normalizeH="0" baseline="0" dirty="0">
                <a:ln>
                  <a:noFill/>
                </a:ln>
                <a:solidFill>
                  <a:schemeClr val="tx1"/>
                </a:solidFill>
                <a:effectLst/>
                <a:latin typeface="Arial" panose="020B0604020202020204" pitchFamily="34" charset="0"/>
              </a:rPr>
              <a:t>To develop a secure and decentralized data recovery system using Blockchain Technology </a:t>
            </a:r>
          </a:p>
          <a:p>
            <a:pPr eaLnBrk="0" fontAlgn="base" hangingPunct="0">
              <a:lnSpc>
                <a:spcPct val="100000"/>
              </a:lnSpc>
              <a:spcBef>
                <a:spcPct val="0"/>
              </a:spcBef>
              <a:spcAft>
                <a:spcPct val="0"/>
              </a:spcAft>
              <a:buClrTx/>
              <a:buSzTx/>
              <a:buFont typeface="Wingdings" panose="05000000000000000000" pitchFamily="2" charset="2"/>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buFont typeface="Wingdings" panose="05000000000000000000" pitchFamily="2" charset="2"/>
              <a:buChar char="§"/>
            </a:pPr>
            <a:r>
              <a:rPr kumimoji="0" lang="en-US" altLang="en-US" sz="1800" b="0" i="0" u="none" strike="noStrike" cap="none" normalizeH="0" baseline="0" dirty="0">
                <a:ln>
                  <a:noFill/>
                </a:ln>
                <a:solidFill>
                  <a:schemeClr val="tx1"/>
                </a:solidFill>
                <a:effectLst/>
                <a:latin typeface="Arial" panose="020B0604020202020204" pitchFamily="34" charset="0"/>
              </a:rPr>
              <a:t>To ensure data integrity and prevent tampering through immutable blockchain records </a:t>
            </a:r>
          </a:p>
          <a:p>
            <a:pPr algn="just" eaLnBrk="0" fontAlgn="base" hangingPunct="0">
              <a:lnSpc>
                <a:spcPct val="100000"/>
              </a:lnSpc>
              <a:spcBef>
                <a:spcPct val="0"/>
              </a:spcBef>
              <a:spcAft>
                <a:spcPct val="0"/>
              </a:spcAft>
              <a:buClrTx/>
              <a:buSzTx/>
              <a:buFont typeface="Wingdings" panose="05000000000000000000" pitchFamily="2" charset="2"/>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buFont typeface="Wingdings" panose="05000000000000000000" pitchFamily="2" charset="2"/>
              <a:buChar char="§"/>
            </a:pPr>
            <a:r>
              <a:rPr kumimoji="0" lang="en-US" altLang="en-US" sz="1800" b="0" i="0" u="none" strike="noStrike" cap="none" normalizeH="0" baseline="0" dirty="0">
                <a:ln>
                  <a:noFill/>
                </a:ln>
                <a:solidFill>
                  <a:schemeClr val="tx1"/>
                </a:solidFill>
                <a:effectLst/>
                <a:latin typeface="Arial" panose="020B0604020202020204" pitchFamily="34" charset="0"/>
              </a:rPr>
              <a:t>To protect sensitive data using encryption techniques like Advanced Encryption Standard (AES) and RSA Encryption </a:t>
            </a:r>
          </a:p>
          <a:p>
            <a:pPr eaLnBrk="0" fontAlgn="base" hangingPunct="0">
              <a:lnSpc>
                <a:spcPct val="100000"/>
              </a:lnSpc>
              <a:spcBef>
                <a:spcPct val="0"/>
              </a:spcBef>
              <a:spcAft>
                <a:spcPct val="0"/>
              </a:spcAft>
              <a:buClrTx/>
              <a:buSzTx/>
              <a:buFont typeface="Wingdings" panose="05000000000000000000" pitchFamily="2" charset="2"/>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buFont typeface="Wingdings" panose="05000000000000000000" pitchFamily="2" charset="2"/>
              <a:buChar char="§"/>
            </a:pPr>
            <a:r>
              <a:rPr kumimoji="0" lang="en-US" altLang="en-US" sz="1800" b="0" i="0" u="none" strike="noStrike" cap="none" normalizeH="0" baseline="0" dirty="0">
                <a:ln>
                  <a:noFill/>
                </a:ln>
                <a:solidFill>
                  <a:schemeClr val="tx1"/>
                </a:solidFill>
                <a:effectLst/>
                <a:latin typeface="Arial" panose="020B0604020202020204" pitchFamily="34" charset="0"/>
              </a:rPr>
              <a:t>To eliminate single points of failure by implementing decentralized storage </a:t>
            </a:r>
          </a:p>
        </p:txBody>
      </p:sp>
    </p:spTree>
    <p:extLst>
      <p:ext uri="{BB962C8B-B14F-4D97-AF65-F5344CB8AC3E}">
        <p14:creationId xmlns:p14="http://schemas.microsoft.com/office/powerpoint/2010/main" val="1186063841"/>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DA1A7-C3C7-13F1-345D-04A72A0BE2E6}"/>
              </a:ext>
            </a:extLst>
          </p:cNvPr>
          <p:cNvSpPr>
            <a:spLocks noGrp="1"/>
          </p:cNvSpPr>
          <p:nvPr>
            <p:ph type="title"/>
          </p:nvPr>
        </p:nvSpPr>
        <p:spPr>
          <a:xfrm>
            <a:off x="1097280" y="286604"/>
            <a:ext cx="10058400" cy="908534"/>
          </a:xfrm>
        </p:spPr>
        <p:txBody>
          <a:bodyPr/>
          <a:lstStyle/>
          <a:p>
            <a:r>
              <a:rPr lang="en-US" dirty="0"/>
              <a:t>LITERATURE SURVEY</a:t>
            </a:r>
            <a:endParaRPr lang="en-IN" dirty="0"/>
          </a:p>
        </p:txBody>
      </p:sp>
      <p:sp>
        <p:nvSpPr>
          <p:cNvPr id="3" name="Content Placeholder 2">
            <a:extLst>
              <a:ext uri="{FF2B5EF4-FFF2-40B4-BE49-F238E27FC236}">
                <a16:creationId xmlns:a16="http://schemas.microsoft.com/office/drawing/2014/main" id="{09AD346E-E40E-53F2-208C-4171A063B011}"/>
              </a:ext>
            </a:extLst>
          </p:cNvPr>
          <p:cNvSpPr>
            <a:spLocks noGrp="1"/>
          </p:cNvSpPr>
          <p:nvPr>
            <p:ph sz="half" idx="1"/>
          </p:nvPr>
        </p:nvSpPr>
        <p:spPr>
          <a:xfrm>
            <a:off x="1281764" y="2013285"/>
            <a:ext cx="4639736" cy="3968104"/>
          </a:xfrm>
        </p:spPr>
        <p:txBody>
          <a:bodyPr/>
          <a:lstStyle/>
          <a:p>
            <a:pPr algn="just"/>
            <a:r>
              <a:rPr lang="en-US" dirty="0"/>
              <a:t>Many researchers have studied how </a:t>
            </a:r>
            <a:r>
              <a:rPr lang="en-US" b="1" dirty="0"/>
              <a:t>blockchain technology and cybersecurity techniques</a:t>
            </a:r>
            <a:r>
              <a:rPr lang="en-US" dirty="0"/>
              <a:t> can be used to improve data security, storage, and recovery. Traditional data storage systems are mostly centralized, which makes them vulnerable to cyberattacks, data tampering, and system failures. To solve these problems, researchers have proposed using blockchain because it provides </a:t>
            </a:r>
            <a:r>
              <a:rPr lang="en-US" b="1" dirty="0"/>
              <a:t>decentralization, transparency, and strong data integrity</a:t>
            </a:r>
            <a:r>
              <a:rPr lang="en-US" dirty="0"/>
              <a:t>.</a:t>
            </a:r>
            <a:endParaRPr lang="en-IN" dirty="0"/>
          </a:p>
        </p:txBody>
      </p:sp>
      <p:pic>
        <p:nvPicPr>
          <p:cNvPr id="6" name="Content Placeholder 5">
            <a:extLst>
              <a:ext uri="{FF2B5EF4-FFF2-40B4-BE49-F238E27FC236}">
                <a16:creationId xmlns:a16="http://schemas.microsoft.com/office/drawing/2014/main" id="{2DA2FEE5-01B1-1FB9-4B37-20EB19BA3DE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700345" y="2270234"/>
            <a:ext cx="3659680" cy="3878318"/>
          </a:xfrm>
          <a:prstGeom prst="rect">
            <a:avLst/>
          </a:prstGeom>
        </p:spPr>
      </p:pic>
    </p:spTree>
    <p:extLst>
      <p:ext uri="{BB962C8B-B14F-4D97-AF65-F5344CB8AC3E}">
        <p14:creationId xmlns:p14="http://schemas.microsoft.com/office/powerpoint/2010/main" val="32615956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95611-7361-E1E4-3092-5348253DFF87}"/>
              </a:ext>
            </a:extLst>
          </p:cNvPr>
          <p:cNvSpPr>
            <a:spLocks noGrp="1"/>
          </p:cNvSpPr>
          <p:nvPr>
            <p:ph type="title"/>
          </p:nvPr>
        </p:nvSpPr>
        <p:spPr>
          <a:xfrm>
            <a:off x="904240" y="197130"/>
            <a:ext cx="10058400" cy="1293717"/>
          </a:xfrm>
        </p:spPr>
        <p:txBody>
          <a:bodyPr/>
          <a:lstStyle/>
          <a:p>
            <a:r>
              <a:rPr lang="en-US" dirty="0"/>
              <a:t>EXISTING SYSTEM</a:t>
            </a:r>
            <a:endParaRPr lang="en-IN" dirty="0"/>
          </a:p>
        </p:txBody>
      </p:sp>
      <p:pic>
        <p:nvPicPr>
          <p:cNvPr id="8" name="Content Placeholder 7">
            <a:extLst>
              <a:ext uri="{FF2B5EF4-FFF2-40B4-BE49-F238E27FC236}">
                <a16:creationId xmlns:a16="http://schemas.microsoft.com/office/drawing/2014/main" id="{11FAD12E-AAF0-C1F5-94A9-8E8B829492B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282559" y="2460625"/>
            <a:ext cx="3889347" cy="3096720"/>
          </a:xfrm>
          <a:prstGeom prst="rect">
            <a:avLst/>
          </a:prstGeom>
        </p:spPr>
      </p:pic>
      <p:sp>
        <p:nvSpPr>
          <p:cNvPr id="6" name="Rectangle 2">
            <a:extLst>
              <a:ext uri="{FF2B5EF4-FFF2-40B4-BE49-F238E27FC236}">
                <a16:creationId xmlns:a16="http://schemas.microsoft.com/office/drawing/2014/main" id="{56EC2AB4-6A26-5AB9-2EE6-56CF97976EB7}"/>
              </a:ext>
            </a:extLst>
          </p:cNvPr>
          <p:cNvSpPr>
            <a:spLocks noGrp="1" noChangeArrowheads="1"/>
          </p:cNvSpPr>
          <p:nvPr>
            <p:ph sz="half" idx="1"/>
          </p:nvPr>
        </p:nvSpPr>
        <p:spPr bwMode="auto">
          <a:xfrm>
            <a:off x="375920" y="2044993"/>
            <a:ext cx="572008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In the existing system, data is stored mostly in one main place like a server or cloud. When data is lost, people try to get it back using backups. But these systems can be unsafe because hackers can attack them, data can be changed without permission, or the main server can fail, causing permanent data loss. Because of these problems, there is a need for a safer way to store and recover data.</a:t>
            </a:r>
          </a:p>
        </p:txBody>
      </p:sp>
    </p:spTree>
    <p:extLst>
      <p:ext uri="{BB962C8B-B14F-4D97-AF65-F5344CB8AC3E}">
        <p14:creationId xmlns:p14="http://schemas.microsoft.com/office/powerpoint/2010/main" val="11833488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97FA7-943E-620B-899B-4378C5303E67}"/>
              </a:ext>
            </a:extLst>
          </p:cNvPr>
          <p:cNvSpPr>
            <a:spLocks noGrp="1"/>
          </p:cNvSpPr>
          <p:nvPr>
            <p:ph type="title"/>
          </p:nvPr>
        </p:nvSpPr>
        <p:spPr/>
        <p:txBody>
          <a:bodyPr/>
          <a:lstStyle/>
          <a:p>
            <a:r>
              <a:rPr lang="en-US" dirty="0"/>
              <a:t>PROPOSED SYSTEM</a:t>
            </a:r>
            <a:endParaRPr lang="en-IN" dirty="0"/>
          </a:p>
        </p:txBody>
      </p:sp>
      <p:sp>
        <p:nvSpPr>
          <p:cNvPr id="5" name="Rectangle 1">
            <a:extLst>
              <a:ext uri="{FF2B5EF4-FFF2-40B4-BE49-F238E27FC236}">
                <a16:creationId xmlns:a16="http://schemas.microsoft.com/office/drawing/2014/main" id="{054F9086-7FC7-E6FB-D0F9-DA384D55F424}"/>
              </a:ext>
            </a:extLst>
          </p:cNvPr>
          <p:cNvSpPr>
            <a:spLocks noGrp="1" noChangeArrowheads="1"/>
          </p:cNvSpPr>
          <p:nvPr>
            <p:ph sz="half" idx="1"/>
          </p:nvPr>
        </p:nvSpPr>
        <p:spPr bwMode="auto">
          <a:xfrm>
            <a:off x="567160" y="1732840"/>
            <a:ext cx="5845216"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uses Blockchain Technology to securely store data records in a decentralized network</a:t>
            </a:r>
            <a:r>
              <a:rPr lang="en-US" altLang="en-US" sz="1800" dirty="0">
                <a:solidFill>
                  <a:schemeClr val="tx1"/>
                </a:solidFill>
                <a:latin typeface="Arial" panose="020B0604020202020204" pitchFamily="34" charset="0"/>
              </a:rPr>
              <a:t> </a:t>
            </a:r>
          </a:p>
          <a:p>
            <a:pPr marR="0" lvl="0"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User data is encrypted using techniques like Advanced Encryption Standard (AES) before storing, so no one can read it without permission.</a:t>
            </a:r>
          </a:p>
          <a:p>
            <a:pPr marR="0" lvl="0"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Instead of storing full data on blockchain, only data </a:t>
            </a:r>
            <a:r>
              <a:rPr kumimoji="0" lang="en-US" altLang="en-US" sz="1800" b="1" i="0" u="none" strike="noStrike" cap="none" normalizeH="0" baseline="0" dirty="0">
                <a:ln>
                  <a:noFill/>
                </a:ln>
                <a:solidFill>
                  <a:schemeClr val="tx1"/>
                </a:solidFill>
                <a:effectLst/>
                <a:latin typeface="Arial" panose="020B0604020202020204" pitchFamily="34" charset="0"/>
              </a:rPr>
              <a:t>hashes</a:t>
            </a:r>
            <a:r>
              <a:rPr kumimoji="0" lang="en-US" altLang="en-US" sz="1800" b="0" i="0" u="none" strike="noStrike" cap="none" normalizeH="0" baseline="0" dirty="0">
                <a:ln>
                  <a:noFill/>
                </a:ln>
                <a:solidFill>
                  <a:schemeClr val="tx1"/>
                </a:solidFill>
                <a:effectLst/>
                <a:latin typeface="Arial" panose="020B0604020202020204" pitchFamily="34" charset="0"/>
              </a:rPr>
              <a:t> are stored to ensure security and save space. </a:t>
            </a:r>
          </a:p>
          <a:p>
            <a:pPr marR="0" lvl="0"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The actual data is stored in a distributed storage system like </a:t>
            </a:r>
            <a:r>
              <a:rPr kumimoji="0" lang="en-US" altLang="en-US" sz="1800" b="0" i="0" u="none" strike="noStrike" cap="none" normalizeH="0" baseline="0" dirty="0" err="1">
                <a:ln>
                  <a:noFill/>
                </a:ln>
                <a:solidFill>
                  <a:schemeClr val="tx1"/>
                </a:solidFill>
                <a:effectLst/>
                <a:latin typeface="Arial" panose="020B0604020202020204" pitchFamily="34" charset="0"/>
              </a:rPr>
              <a:t>InterPlanetary</a:t>
            </a:r>
            <a:r>
              <a:rPr kumimoji="0" lang="en-US" altLang="en-US" sz="1800" b="0" i="0" u="none" strike="noStrike" cap="none" normalizeH="0" baseline="0" dirty="0">
                <a:ln>
                  <a:noFill/>
                </a:ln>
                <a:solidFill>
                  <a:schemeClr val="tx1"/>
                </a:solidFill>
                <a:effectLst/>
                <a:latin typeface="Arial" panose="020B0604020202020204" pitchFamily="34" charset="0"/>
              </a:rPr>
              <a:t> File System (IPFS). </a:t>
            </a:r>
          </a:p>
          <a:p>
            <a:pPr marR="0" lvl="0"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When data is lost, users can request recovery through the system. </a:t>
            </a:r>
          </a:p>
        </p:txBody>
      </p:sp>
      <p:pic>
        <p:nvPicPr>
          <p:cNvPr id="6" name="Content Placeholder 9">
            <a:extLst>
              <a:ext uri="{FF2B5EF4-FFF2-40B4-BE49-F238E27FC236}">
                <a16:creationId xmlns:a16="http://schemas.microsoft.com/office/drawing/2014/main" id="{64AE9DA2-CCD2-33B4-1807-02A4D03687A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326702" y="2303362"/>
            <a:ext cx="3484051" cy="3507129"/>
          </a:xfrm>
          <a:prstGeom prst="rect">
            <a:avLst/>
          </a:prstGeom>
        </p:spPr>
      </p:pic>
    </p:spTree>
    <p:extLst>
      <p:ext uri="{BB962C8B-B14F-4D97-AF65-F5344CB8AC3E}">
        <p14:creationId xmlns:p14="http://schemas.microsoft.com/office/powerpoint/2010/main" val="18115314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15227-C6D9-6877-0BAB-EFF7DC79507D}"/>
              </a:ext>
            </a:extLst>
          </p:cNvPr>
          <p:cNvSpPr>
            <a:spLocks noGrp="1"/>
          </p:cNvSpPr>
          <p:nvPr>
            <p:ph type="title"/>
          </p:nvPr>
        </p:nvSpPr>
        <p:spPr/>
        <p:txBody>
          <a:bodyPr/>
          <a:lstStyle/>
          <a:p>
            <a:r>
              <a:rPr lang="en-US" dirty="0"/>
              <a:t>SYSTEM REQUIREMENTS</a:t>
            </a:r>
            <a:endParaRPr lang="en-IN" dirty="0"/>
          </a:p>
        </p:txBody>
      </p:sp>
      <p:sp>
        <p:nvSpPr>
          <p:cNvPr id="3" name="Content Placeholder 2">
            <a:extLst>
              <a:ext uri="{FF2B5EF4-FFF2-40B4-BE49-F238E27FC236}">
                <a16:creationId xmlns:a16="http://schemas.microsoft.com/office/drawing/2014/main" id="{B89FB85C-1E9E-7473-763E-4B12BBC1DACD}"/>
              </a:ext>
            </a:extLst>
          </p:cNvPr>
          <p:cNvSpPr>
            <a:spLocks noGrp="1"/>
          </p:cNvSpPr>
          <p:nvPr>
            <p:ph sz="half" idx="1"/>
          </p:nvPr>
        </p:nvSpPr>
        <p:spPr>
          <a:xfrm>
            <a:off x="863051" y="1917290"/>
            <a:ext cx="5360768" cy="4365523"/>
          </a:xfrm>
        </p:spPr>
        <p:txBody>
          <a:bodyPr>
            <a:normAutofit lnSpcReduction="10000"/>
          </a:bodyPr>
          <a:lstStyle/>
          <a:p>
            <a:r>
              <a:rPr lang="en-US" b="1" dirty="0"/>
              <a:t>Hardware Requirements</a:t>
            </a:r>
          </a:p>
          <a:p>
            <a:pPr>
              <a:buFont typeface="Arial" panose="020B0604020202020204" pitchFamily="34" charset="0"/>
              <a:buChar char="•"/>
            </a:pPr>
            <a:r>
              <a:rPr lang="en-US" dirty="0"/>
              <a:t>Computer/Laptop with minimum 4GB RAM </a:t>
            </a:r>
          </a:p>
          <a:p>
            <a:pPr>
              <a:buFont typeface="Arial" panose="020B0604020202020204" pitchFamily="34" charset="0"/>
              <a:buChar char="•"/>
            </a:pPr>
            <a:r>
              <a:rPr lang="en-US" dirty="0"/>
              <a:t>Minimum 100GB storage  </a:t>
            </a:r>
          </a:p>
          <a:p>
            <a:pPr>
              <a:buFont typeface="Arial" panose="020B0604020202020204" pitchFamily="34" charset="0"/>
              <a:buChar char="•"/>
            </a:pPr>
            <a:r>
              <a:rPr lang="en-US" dirty="0"/>
              <a:t>Stable </a:t>
            </a:r>
            <a:r>
              <a:rPr lang="en-US" dirty="0">
                <a:latin typeface="ArEL"/>
              </a:rPr>
              <a:t>internet</a:t>
            </a:r>
            <a:r>
              <a:rPr lang="en-US" dirty="0"/>
              <a:t> connection </a:t>
            </a:r>
          </a:p>
          <a:p>
            <a:r>
              <a:rPr lang="en-IN" b="1" dirty="0"/>
              <a:t>Software Requirements</a:t>
            </a:r>
          </a:p>
          <a:p>
            <a:pPr>
              <a:buFont typeface="Arial" panose="020B0604020202020204" pitchFamily="34" charset="0"/>
              <a:buChar char="•"/>
            </a:pPr>
            <a:r>
              <a:rPr lang="en-IN" dirty="0"/>
              <a:t>Operating System: Windows / Linux / macOS </a:t>
            </a:r>
          </a:p>
          <a:p>
            <a:pPr>
              <a:buFont typeface="Arial" panose="020B0604020202020204" pitchFamily="34" charset="0"/>
              <a:buChar char="•"/>
            </a:pPr>
            <a:r>
              <a:rPr lang="en-IN" dirty="0"/>
              <a:t>Programming Language: Python / JavaScript </a:t>
            </a:r>
          </a:p>
          <a:p>
            <a:pPr>
              <a:buFont typeface="Arial" panose="020B0604020202020204" pitchFamily="34" charset="0"/>
              <a:buChar char="•"/>
            </a:pPr>
            <a:r>
              <a:rPr lang="en-IN" dirty="0"/>
              <a:t>Blockchain Platform: Ethereum </a:t>
            </a:r>
          </a:p>
          <a:p>
            <a:pPr>
              <a:buFont typeface="Arial" panose="020B0604020202020204" pitchFamily="34" charset="0"/>
              <a:buChar char="•"/>
            </a:pPr>
            <a:r>
              <a:rPr lang="en-IN" dirty="0"/>
              <a:t>Development Framework: Node.js </a:t>
            </a:r>
          </a:p>
          <a:p>
            <a:pPr>
              <a:buFont typeface="Arial" panose="020B0604020202020204" pitchFamily="34" charset="0"/>
              <a:buChar char="•"/>
            </a:pPr>
            <a:endParaRPr lang="en-US" dirty="0"/>
          </a:p>
          <a:p>
            <a:pPr>
              <a:buFont typeface="Arial" panose="020B0604020202020204" pitchFamily="34" charset="0"/>
              <a:buChar char="•"/>
            </a:pPr>
            <a:endParaRPr lang="en-IN" dirty="0"/>
          </a:p>
        </p:txBody>
      </p:sp>
      <p:pic>
        <p:nvPicPr>
          <p:cNvPr id="4098" name="Picture 2" descr="Cybersecurity for Blockchain: Safeguarding Your Success">
            <a:extLst>
              <a:ext uri="{FF2B5EF4-FFF2-40B4-BE49-F238E27FC236}">
                <a16:creationId xmlns:a16="http://schemas.microsoft.com/office/drawing/2014/main" id="{431AC0E8-82E8-5ABB-76DC-4A4574235CBD}"/>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424090" y="2207160"/>
            <a:ext cx="4904859" cy="3753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4121273"/>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9A9CF-CFCF-49C0-0EE9-CD5995DFD738}"/>
              </a:ext>
            </a:extLst>
          </p:cNvPr>
          <p:cNvSpPr>
            <a:spLocks noGrp="1"/>
          </p:cNvSpPr>
          <p:nvPr>
            <p:ph type="title"/>
          </p:nvPr>
        </p:nvSpPr>
        <p:spPr/>
        <p:txBody>
          <a:bodyPr/>
          <a:lstStyle/>
          <a:p>
            <a:r>
              <a:rPr lang="en-US" dirty="0"/>
              <a:t>CONCLUSION</a:t>
            </a:r>
            <a:endParaRPr lang="en-IN" dirty="0"/>
          </a:p>
        </p:txBody>
      </p:sp>
      <p:sp>
        <p:nvSpPr>
          <p:cNvPr id="5" name="Rectangle 1">
            <a:extLst>
              <a:ext uri="{FF2B5EF4-FFF2-40B4-BE49-F238E27FC236}">
                <a16:creationId xmlns:a16="http://schemas.microsoft.com/office/drawing/2014/main" id="{260C7990-46D3-A0C1-242B-103BF7C0560F}"/>
              </a:ext>
            </a:extLst>
          </p:cNvPr>
          <p:cNvSpPr>
            <a:spLocks noGrp="1" noChangeArrowheads="1"/>
          </p:cNvSpPr>
          <p:nvPr>
            <p:ph sz="half" idx="1"/>
          </p:nvPr>
        </p:nvSpPr>
        <p:spPr bwMode="auto">
          <a:xfrm>
            <a:off x="285135" y="2208264"/>
            <a:ext cx="6601802" cy="441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buFont typeface="Wingdings" panose="05000000000000000000" pitchFamily="2" charset="2"/>
              <a:buChar char="Ø"/>
            </a:pPr>
            <a:r>
              <a:rPr lang="en-US" sz="1800" dirty="0"/>
              <a:t>The </a:t>
            </a:r>
            <a:r>
              <a:rPr lang="en-US" sz="1800" b="1" dirty="0"/>
              <a:t>Blockchain-Based Secure Lost Data Retrieval and Recovery System</a:t>
            </a:r>
            <a:r>
              <a:rPr lang="en-US" sz="1800" dirty="0"/>
              <a:t> provides a safe and reliable way to store and recover important data. By using Blockchain Technology, the system ensures that data cannot be changed or misused.</a:t>
            </a:r>
          </a:p>
          <a:p>
            <a:pPr algn="just">
              <a:buFont typeface="Wingdings" panose="05000000000000000000" pitchFamily="2" charset="2"/>
              <a:buChar char="Ø"/>
            </a:pPr>
            <a:r>
              <a:rPr lang="en-US" sz="1800" dirty="0"/>
              <a:t>Data is protected using encryption methods like Advanced Encryption Standard (AES), making it secure from unauthorized access. The use of decentralized storage improves data availability and removes the risk of data loss from a single point of failure.</a:t>
            </a:r>
          </a:p>
          <a:p>
            <a:pPr algn="just">
              <a:buSzPct val="126000"/>
              <a:buFont typeface="Wingdings" panose="05000000000000000000" pitchFamily="2" charset="2"/>
              <a:buChar char="Ø"/>
            </a:pPr>
            <a:r>
              <a:rPr lang="en-US" sz="1800" dirty="0"/>
              <a:t>With the help of Smart Contracts, the system allows only authorized users to recover their data in a secure and automatic way.</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105" name="Picture 33" descr="The Role of Blockchain in Enhancing Cybersecurity in 2025">
            <a:extLst>
              <a:ext uri="{FF2B5EF4-FFF2-40B4-BE49-F238E27FC236}">
                <a16:creationId xmlns:a16="http://schemas.microsoft.com/office/drawing/2014/main" id="{C00FE3B8-1B62-1CAB-C995-759AE258DC2B}"/>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7292051" y="2071868"/>
            <a:ext cx="4614814" cy="4132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6197745"/>
      </p:ext>
    </p:extLst>
  </p:cSld>
  <p:clrMapOvr>
    <a:masterClrMapping/>
  </p:clrMapOvr>
  <p:transition spd="slow">
    <p:wheel spokes="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52DC5C-3EE4-C5D8-3C25-A462D3BED05B}"/>
              </a:ext>
            </a:extLst>
          </p:cNvPr>
          <p:cNvSpPr txBox="1"/>
          <p:nvPr/>
        </p:nvSpPr>
        <p:spPr>
          <a:xfrm>
            <a:off x="0" y="-2250745"/>
            <a:ext cx="12070080" cy="8593378"/>
          </a:xfrm>
          <a:prstGeom prst="rect">
            <a:avLst/>
          </a:prstGeom>
          <a:noFill/>
        </p:spPr>
        <p:txBody>
          <a:bodyPr wrap="square">
            <a:spAutoFit/>
          </a:bodyPr>
          <a:lstStyle/>
          <a:p>
            <a:pPr>
              <a:lnSpc>
                <a:spcPct val="116000"/>
              </a:lnSpc>
              <a:spcBef>
                <a:spcPts val="1000"/>
              </a:spcBef>
              <a:spcAft>
                <a:spcPts val="800"/>
              </a:spcAft>
              <a:buNone/>
            </a:pPr>
            <a:r>
              <a:rPr lang="en-IN" sz="2000" b="1" i="0" dirty="0">
                <a:solidFill>
                  <a:srgbClr val="4F81BD"/>
                </a:solidFill>
                <a:effectLst/>
                <a:latin typeface="Cambria" panose="02040503050406030204" pitchFamily="18" charset="0"/>
                <a:ea typeface="SimSun" panose="02010600030101010101" pitchFamily="2" charset="-122"/>
                <a:cs typeface="Times New Roman" panose="02020603050405020304" pitchFamily="18" charset="0"/>
              </a:rPr>
              <a:t>REFERENCES</a:t>
            </a:r>
            <a:endParaRPr lang="en-IN" sz="2000" b="1" dirty="0">
              <a:solidFill>
                <a:srgbClr val="4F81BD"/>
              </a:solidFill>
              <a:latin typeface="Cambria" panose="02040503050406030204" pitchFamily="18" charset="0"/>
              <a:ea typeface="SimSun" panose="02010600030101010101" pitchFamily="2" charset="-122"/>
              <a:cs typeface="Times New Roman" panose="02020603050405020304" pitchFamily="18" charset="0"/>
            </a:endParaRPr>
          </a:p>
          <a:p>
            <a:pPr>
              <a:lnSpc>
                <a:spcPct val="116000"/>
              </a:lnSpc>
              <a:spcBef>
                <a:spcPts val="1000"/>
              </a:spcBef>
              <a:spcAft>
                <a:spcPts val="800"/>
              </a:spcAft>
              <a:buNone/>
            </a:pPr>
            <a:endParaRPr lang="en-IN" sz="1800" dirty="0">
              <a:effectLst/>
              <a:latin typeface="Aptos" panose="020B0004020202020204" pitchFamily="34" charset="0"/>
              <a:ea typeface="SimSun" panose="02010600030101010101" pitchFamily="2" charset="-122"/>
              <a:cs typeface="Times New Roman" panose="02020603050405020304" pitchFamily="18" charset="0"/>
            </a:endParaRPr>
          </a:p>
          <a:p>
            <a:pPr>
              <a:lnSpc>
                <a:spcPct val="116000"/>
              </a:lnSpc>
              <a:spcBef>
                <a:spcPts val="1000"/>
              </a:spcBef>
              <a:spcAft>
                <a:spcPts val="800"/>
              </a:spcAft>
              <a:buNone/>
            </a:pPr>
            <a:endParaRPr lang="en-IN" dirty="0">
              <a:latin typeface="Aptos" panose="020B0004020202020204" pitchFamily="34" charset="0"/>
              <a:ea typeface="SimSun" panose="02010600030101010101" pitchFamily="2" charset="-122"/>
              <a:cs typeface="Times New Roman" panose="02020603050405020304" pitchFamily="18" charset="0"/>
            </a:endParaRPr>
          </a:p>
          <a:p>
            <a:pPr>
              <a:lnSpc>
                <a:spcPct val="116000"/>
              </a:lnSpc>
              <a:spcBef>
                <a:spcPts val="1000"/>
              </a:spcBef>
              <a:spcAft>
                <a:spcPts val="800"/>
              </a:spcAft>
              <a:buNone/>
            </a:pPr>
            <a:endParaRPr lang="en-IN" sz="1800" dirty="0">
              <a:effectLst/>
              <a:latin typeface="Aptos" panose="020B0004020202020204" pitchFamily="34" charset="0"/>
              <a:ea typeface="SimSun" panose="02010600030101010101" pitchFamily="2" charset="-122"/>
              <a:cs typeface="Times New Roman" panose="02020603050405020304" pitchFamily="18" charset="0"/>
            </a:endParaRPr>
          </a:p>
          <a:p>
            <a:pPr>
              <a:lnSpc>
                <a:spcPct val="116000"/>
              </a:lnSpc>
              <a:spcBef>
                <a:spcPts val="1000"/>
              </a:spcBef>
              <a:spcAft>
                <a:spcPts val="800"/>
              </a:spcAft>
            </a:pPr>
            <a:r>
              <a:rPr lang="en-IN" b="1" dirty="0">
                <a:solidFill>
                  <a:srgbClr val="4F81BD"/>
                </a:solidFill>
                <a:latin typeface="Cambria" panose="02040503050406030204" pitchFamily="18" charset="0"/>
                <a:ea typeface="SimSun" panose="02010600030101010101" pitchFamily="2" charset="-122"/>
                <a:cs typeface="Times New Roman" panose="02020603050405020304" pitchFamily="18" charset="0"/>
              </a:rPr>
              <a:t>REFERENCES</a:t>
            </a:r>
            <a:endParaRPr lang="en-IN" sz="1800" dirty="0">
              <a:effectLst/>
              <a:latin typeface="Aptos" panose="020B0004020202020204" pitchFamily="34" charset="0"/>
              <a:ea typeface="SimSun" panose="02010600030101010101" pitchFamily="2" charset="-122"/>
              <a:cs typeface="Times New Roman" panose="02020603050405020304" pitchFamily="18" charset="0"/>
            </a:endParaRPr>
          </a:p>
          <a:p>
            <a:pPr algn="just">
              <a:lnSpc>
                <a:spcPct val="116000"/>
              </a:lnSpc>
              <a:spcAft>
                <a:spcPts val="800"/>
              </a:spcAft>
              <a:buNone/>
            </a:pPr>
            <a:r>
              <a:rPr lang="en-IN" sz="1800" b="0" i="0" dirty="0">
                <a:solidFill>
                  <a:srgbClr val="000000"/>
                </a:solidFill>
                <a:effectLst/>
                <a:latin typeface="Times New Roman" panose="02020603050405020304" pitchFamily="18" charset="0"/>
                <a:ea typeface="SimSun" panose="02010600030101010101" pitchFamily="2" charset="-122"/>
              </a:rPr>
              <a:t>[1] S. Nakamoto, “Blockchain-Based Secure Data Storage and Recovery Mechanisms,” </a:t>
            </a:r>
            <a:r>
              <a:rPr lang="en-IN" sz="1800" b="0" i="1" dirty="0">
                <a:solidFill>
                  <a:srgbClr val="000000"/>
                </a:solidFill>
                <a:effectLst/>
                <a:latin typeface="Times New Roman" panose="02020603050405020304" pitchFamily="18" charset="0"/>
                <a:ea typeface="SimSun" panose="02010600030101010101" pitchFamily="2" charset="-122"/>
              </a:rPr>
              <a:t>IEEE Access</a:t>
            </a:r>
            <a:r>
              <a:rPr lang="en-IN" sz="1800" b="0" i="0" dirty="0">
                <a:solidFill>
                  <a:srgbClr val="000000"/>
                </a:solidFill>
                <a:effectLst/>
                <a:latin typeface="Times New Roman" panose="02020603050405020304" pitchFamily="18" charset="0"/>
                <a:ea typeface="SimSun" panose="02010600030101010101" pitchFamily="2" charset="-122"/>
              </a:rPr>
              <a:t>, vol. 11, pp. 45210–45225, 2023.</a:t>
            </a:r>
            <a:endParaRPr lang="en-IN" sz="1800" dirty="0">
              <a:effectLst/>
              <a:latin typeface="Times New Roman" panose="02020603050405020304" pitchFamily="18" charset="0"/>
              <a:ea typeface="SimSun" panose="02010600030101010101" pitchFamily="2" charset="-122"/>
            </a:endParaRPr>
          </a:p>
          <a:p>
            <a:pPr algn="just">
              <a:lnSpc>
                <a:spcPct val="116000"/>
              </a:lnSpc>
              <a:spcAft>
                <a:spcPts val="800"/>
              </a:spcAft>
              <a:buNone/>
            </a:pPr>
            <a:r>
              <a:rPr lang="en-IN" sz="1800" b="0" i="0" dirty="0">
                <a:solidFill>
                  <a:srgbClr val="000000"/>
                </a:solidFill>
                <a:effectLst/>
                <a:latin typeface="Times New Roman" panose="02020603050405020304" pitchFamily="18" charset="0"/>
                <a:ea typeface="SimSun" panose="02010600030101010101" pitchFamily="2" charset="-122"/>
              </a:rPr>
              <a:t>[2] A. Sharma and R. Kumar, “Secure Data Recovery Framework Using Blockchain and Cryptographic Hashing,” </a:t>
            </a:r>
            <a:r>
              <a:rPr lang="en-IN" sz="1800" b="0" i="1" dirty="0">
                <a:solidFill>
                  <a:srgbClr val="000000"/>
                </a:solidFill>
                <a:effectLst/>
                <a:latin typeface="Times New Roman" panose="02020603050405020304" pitchFamily="18" charset="0"/>
                <a:ea typeface="SimSun" panose="02010600030101010101" pitchFamily="2" charset="-122"/>
              </a:rPr>
              <a:t>International Journal of Information Security</a:t>
            </a:r>
            <a:r>
              <a:rPr lang="en-IN" sz="1800" b="0" i="0" dirty="0">
                <a:solidFill>
                  <a:srgbClr val="000000"/>
                </a:solidFill>
                <a:effectLst/>
                <a:latin typeface="Times New Roman" panose="02020603050405020304" pitchFamily="18" charset="0"/>
                <a:ea typeface="SimSun" panose="02010600030101010101" pitchFamily="2" charset="-122"/>
              </a:rPr>
              <a:t>, vol. 22, no. 4, pp. 789–801, 2023.</a:t>
            </a:r>
            <a:endParaRPr lang="en-IN" sz="1800" dirty="0">
              <a:effectLst/>
              <a:latin typeface="Times New Roman" panose="02020603050405020304" pitchFamily="18" charset="0"/>
              <a:ea typeface="SimSun" panose="02010600030101010101" pitchFamily="2" charset="-122"/>
            </a:endParaRPr>
          </a:p>
          <a:p>
            <a:pPr algn="just">
              <a:lnSpc>
                <a:spcPct val="116000"/>
              </a:lnSpc>
              <a:spcAft>
                <a:spcPts val="800"/>
              </a:spcAft>
              <a:buNone/>
            </a:pPr>
            <a:r>
              <a:rPr lang="en-IN" sz="1800" b="0" i="0" dirty="0">
                <a:solidFill>
                  <a:srgbClr val="000000"/>
                </a:solidFill>
                <a:effectLst/>
                <a:latin typeface="Times New Roman" panose="02020603050405020304" pitchFamily="18" charset="0"/>
                <a:ea typeface="SimSun" panose="02010600030101010101" pitchFamily="2" charset="-122"/>
              </a:rPr>
              <a:t>[3] M. Al-Fuqaha, O. </a:t>
            </a:r>
            <a:r>
              <a:rPr lang="en-IN" sz="1800" b="0" i="0" dirty="0" err="1">
                <a:solidFill>
                  <a:srgbClr val="000000"/>
                </a:solidFill>
                <a:effectLst/>
                <a:latin typeface="Times New Roman" panose="02020603050405020304" pitchFamily="18" charset="0"/>
                <a:ea typeface="SimSun" panose="02010600030101010101" pitchFamily="2" charset="-122"/>
              </a:rPr>
              <a:t>Aledhari</a:t>
            </a:r>
            <a:r>
              <a:rPr lang="en-IN" sz="1800" b="0" i="0" dirty="0">
                <a:solidFill>
                  <a:srgbClr val="000000"/>
                </a:solidFill>
                <a:effectLst/>
                <a:latin typeface="Times New Roman" panose="02020603050405020304" pitchFamily="18" charset="0"/>
                <a:ea typeface="SimSun" panose="02010600030101010101" pitchFamily="2" charset="-122"/>
              </a:rPr>
              <a:t>, and M. </a:t>
            </a:r>
            <a:r>
              <a:rPr lang="en-IN" sz="1800" b="0" i="0" dirty="0" err="1">
                <a:solidFill>
                  <a:srgbClr val="000000"/>
                </a:solidFill>
                <a:effectLst/>
                <a:latin typeface="Times New Roman" panose="02020603050405020304" pitchFamily="18" charset="0"/>
                <a:ea typeface="SimSun" panose="02010600030101010101" pitchFamily="2" charset="-122"/>
              </a:rPr>
              <a:t>Guizani</a:t>
            </a:r>
            <a:r>
              <a:rPr lang="en-IN" sz="1800" b="0" i="0" dirty="0">
                <a:solidFill>
                  <a:srgbClr val="000000"/>
                </a:solidFill>
                <a:effectLst/>
                <a:latin typeface="Times New Roman" panose="02020603050405020304" pitchFamily="18" charset="0"/>
                <a:ea typeface="SimSun" panose="02010600030101010101" pitchFamily="2" charset="-122"/>
              </a:rPr>
              <a:t>, “Decentralized Storage Systems for Secure Data Management,” </a:t>
            </a:r>
            <a:r>
              <a:rPr lang="en-IN" sz="1800" b="0" i="1" dirty="0">
                <a:solidFill>
                  <a:srgbClr val="000000"/>
                </a:solidFill>
                <a:effectLst/>
                <a:latin typeface="Times New Roman" panose="02020603050405020304" pitchFamily="18" charset="0"/>
                <a:ea typeface="SimSun" panose="02010600030101010101" pitchFamily="2" charset="-122"/>
              </a:rPr>
              <a:t>IEEE Communications Surveys &amp; Tutorials</a:t>
            </a:r>
            <a:r>
              <a:rPr lang="en-IN" sz="1800" b="0" i="0" dirty="0">
                <a:solidFill>
                  <a:srgbClr val="000000"/>
                </a:solidFill>
                <a:effectLst/>
                <a:latin typeface="Times New Roman" panose="02020603050405020304" pitchFamily="18" charset="0"/>
                <a:ea typeface="SimSun" panose="02010600030101010101" pitchFamily="2" charset="-122"/>
              </a:rPr>
              <a:t>, vol. 26, no. 1, pp. 112–135, 2024.</a:t>
            </a:r>
            <a:endParaRPr lang="en-IN" sz="1800" dirty="0">
              <a:effectLst/>
              <a:latin typeface="Times New Roman" panose="02020603050405020304" pitchFamily="18" charset="0"/>
              <a:ea typeface="SimSun" panose="02010600030101010101" pitchFamily="2" charset="-122"/>
            </a:endParaRPr>
          </a:p>
          <a:p>
            <a:pPr algn="just">
              <a:lnSpc>
                <a:spcPct val="116000"/>
              </a:lnSpc>
              <a:spcAft>
                <a:spcPts val="800"/>
              </a:spcAft>
              <a:buNone/>
            </a:pPr>
            <a:r>
              <a:rPr lang="en-IN" sz="1800" b="0" i="0" dirty="0">
                <a:solidFill>
                  <a:srgbClr val="000000"/>
                </a:solidFill>
                <a:effectLst/>
                <a:latin typeface="Times New Roman" panose="02020603050405020304" pitchFamily="18" charset="0"/>
                <a:ea typeface="SimSun" panose="02010600030101010101" pitchFamily="2" charset="-122"/>
              </a:rPr>
              <a:t>[4] J. Li, X. Chen, and Y. Zhang, “Cyber Security Challenges and Solutions in Data Loss Prevention,” </a:t>
            </a:r>
            <a:r>
              <a:rPr lang="en-IN" sz="1800" b="0" i="1" dirty="0">
                <a:solidFill>
                  <a:srgbClr val="000000"/>
                </a:solidFill>
                <a:effectLst/>
                <a:latin typeface="Times New Roman" panose="02020603050405020304" pitchFamily="18" charset="0"/>
                <a:ea typeface="SimSun" panose="02010600030101010101" pitchFamily="2" charset="-122"/>
              </a:rPr>
              <a:t>IEEE Transactions on Information Forensics and Security</a:t>
            </a:r>
            <a:r>
              <a:rPr lang="en-IN" sz="1800" b="0" i="0" dirty="0">
                <a:solidFill>
                  <a:srgbClr val="000000"/>
                </a:solidFill>
                <a:effectLst/>
                <a:latin typeface="Times New Roman" panose="02020603050405020304" pitchFamily="18" charset="0"/>
                <a:ea typeface="SimSun" panose="02010600030101010101" pitchFamily="2" charset="-122"/>
              </a:rPr>
              <a:t>, vol. 18, pp. 2140–2154, 2023.</a:t>
            </a:r>
            <a:endParaRPr lang="en-IN" sz="1800" dirty="0">
              <a:effectLst/>
              <a:latin typeface="Times New Roman" panose="02020603050405020304" pitchFamily="18" charset="0"/>
              <a:ea typeface="SimSun" panose="02010600030101010101" pitchFamily="2" charset="-122"/>
            </a:endParaRPr>
          </a:p>
          <a:p>
            <a:pPr algn="just">
              <a:lnSpc>
                <a:spcPct val="116000"/>
              </a:lnSpc>
              <a:spcAft>
                <a:spcPts val="800"/>
              </a:spcAft>
              <a:buNone/>
            </a:pPr>
            <a:r>
              <a:rPr lang="en-IN" sz="1800" b="0" i="0" dirty="0">
                <a:solidFill>
                  <a:srgbClr val="000000"/>
                </a:solidFill>
                <a:effectLst/>
                <a:latin typeface="Times New Roman" panose="02020603050405020304" pitchFamily="18" charset="0"/>
                <a:ea typeface="SimSun" panose="02010600030101010101" pitchFamily="2" charset="-122"/>
              </a:rPr>
              <a:t>[5] K. Patel and S. Verma, “Blockchain-Assisted Secure File Recovery Using IPFS,” </a:t>
            </a:r>
            <a:r>
              <a:rPr lang="en-IN" sz="1800" b="0" i="1" dirty="0">
                <a:solidFill>
                  <a:srgbClr val="000000"/>
                </a:solidFill>
                <a:effectLst/>
                <a:latin typeface="Times New Roman" panose="02020603050405020304" pitchFamily="18" charset="0"/>
                <a:ea typeface="SimSun" panose="02010600030101010101" pitchFamily="2" charset="-122"/>
              </a:rPr>
              <a:t>Journal of Network and Computer Applications</a:t>
            </a:r>
            <a:r>
              <a:rPr lang="en-IN" sz="1800" b="0" i="0" dirty="0">
                <a:solidFill>
                  <a:srgbClr val="000000"/>
                </a:solidFill>
                <a:effectLst/>
                <a:latin typeface="Times New Roman" panose="02020603050405020304" pitchFamily="18" charset="0"/>
                <a:ea typeface="SimSun" panose="02010600030101010101" pitchFamily="2" charset="-122"/>
              </a:rPr>
              <a:t>, vol. 221, pp. 103567, 2024.</a:t>
            </a:r>
            <a:endParaRPr lang="en-IN" sz="1800" dirty="0">
              <a:effectLst/>
              <a:latin typeface="Times New Roman" panose="02020603050405020304" pitchFamily="18" charset="0"/>
              <a:ea typeface="SimSun" panose="02010600030101010101" pitchFamily="2" charset="-122"/>
            </a:endParaRPr>
          </a:p>
          <a:p>
            <a:pPr algn="just">
              <a:lnSpc>
                <a:spcPct val="116000"/>
              </a:lnSpc>
              <a:spcAft>
                <a:spcPts val="800"/>
              </a:spcAft>
              <a:buNone/>
            </a:pPr>
            <a:r>
              <a:rPr lang="en-IN" sz="1800" b="0" i="0" dirty="0">
                <a:solidFill>
                  <a:srgbClr val="000000"/>
                </a:solidFill>
                <a:effectLst/>
                <a:latin typeface="Times New Roman" panose="02020603050405020304" pitchFamily="18" charset="0"/>
                <a:ea typeface="SimSun" panose="02010600030101010101" pitchFamily="2" charset="-122"/>
              </a:rPr>
              <a:t>[6] T. Nguyen and D. Kim, “Integrity Verification of Recovered Data Using Cryptographic Hash Functions,” </a:t>
            </a:r>
            <a:r>
              <a:rPr lang="en-IN" sz="1800" b="0" i="1" dirty="0">
                <a:solidFill>
                  <a:srgbClr val="000000"/>
                </a:solidFill>
                <a:effectLst/>
                <a:latin typeface="Times New Roman" panose="02020603050405020304" pitchFamily="18" charset="0"/>
                <a:ea typeface="SimSun" panose="02010600030101010101" pitchFamily="2" charset="-122"/>
              </a:rPr>
              <a:t>Future Generation Computer Systems</a:t>
            </a:r>
            <a:r>
              <a:rPr lang="en-IN" sz="1800" b="0" i="0" dirty="0">
                <a:solidFill>
                  <a:srgbClr val="000000"/>
                </a:solidFill>
                <a:effectLst/>
                <a:latin typeface="Times New Roman" panose="02020603050405020304" pitchFamily="18" charset="0"/>
                <a:ea typeface="SimSun" panose="02010600030101010101" pitchFamily="2" charset="-122"/>
              </a:rPr>
              <a:t>, vol. 146, pp. 225–236, 2023.</a:t>
            </a:r>
            <a:endParaRPr lang="en-IN" sz="1800" dirty="0">
              <a:effectLst/>
              <a:latin typeface="Times New Roman" panose="02020603050405020304" pitchFamily="18" charset="0"/>
              <a:ea typeface="SimSun" panose="02010600030101010101" pitchFamily="2" charset="-122"/>
            </a:endParaRPr>
          </a:p>
          <a:p>
            <a:pPr algn="just">
              <a:lnSpc>
                <a:spcPct val="116000"/>
              </a:lnSpc>
              <a:spcAft>
                <a:spcPts val="800"/>
              </a:spcAft>
              <a:buNone/>
            </a:pPr>
            <a:r>
              <a:rPr lang="en-IN" sz="1800" b="0" i="0" dirty="0">
                <a:solidFill>
                  <a:srgbClr val="000000"/>
                </a:solidFill>
                <a:effectLst/>
                <a:latin typeface="Times New Roman" panose="02020603050405020304" pitchFamily="18" charset="0"/>
                <a:ea typeface="SimSun" panose="02010600030101010101" pitchFamily="2" charset="-122"/>
              </a:rPr>
              <a:t>[7] R. Singh, P. Gupta, and A. Mehta, “A Secure and Transparent Data Recovery Model Based on Blockchain Technology,” </a:t>
            </a:r>
            <a:r>
              <a:rPr lang="en-IN" sz="1800" b="0" i="1" dirty="0">
                <a:solidFill>
                  <a:srgbClr val="000000"/>
                </a:solidFill>
                <a:effectLst/>
                <a:latin typeface="Times New Roman" panose="02020603050405020304" pitchFamily="18" charset="0"/>
                <a:ea typeface="SimSun" panose="02010600030101010101" pitchFamily="2" charset="-122"/>
              </a:rPr>
              <a:t>IEEE Internet of Things Journal</a:t>
            </a:r>
            <a:r>
              <a:rPr lang="en-IN" sz="1800" b="0" i="0" dirty="0">
                <a:solidFill>
                  <a:srgbClr val="000000"/>
                </a:solidFill>
                <a:effectLst/>
                <a:latin typeface="Times New Roman" panose="02020603050405020304" pitchFamily="18" charset="0"/>
                <a:ea typeface="SimSun" panose="02010600030101010101" pitchFamily="2" charset="-122"/>
              </a:rPr>
              <a:t>, vol. 11, no. 3, pp. 5124–5136, 2024.</a:t>
            </a:r>
            <a:endParaRPr lang="en-IN" sz="1800" dirty="0">
              <a:effectLst/>
              <a:latin typeface="Times New Roman" panose="02020603050405020304" pitchFamily="18" charset="0"/>
              <a:ea typeface="SimSun" panose="02010600030101010101" pitchFamily="2" charset="-122"/>
            </a:endParaRPr>
          </a:p>
          <a:p>
            <a:pPr algn="just">
              <a:lnSpc>
                <a:spcPct val="116000"/>
              </a:lnSpc>
              <a:spcAft>
                <a:spcPts val="800"/>
              </a:spcAft>
              <a:buNone/>
            </a:pPr>
            <a:r>
              <a:rPr lang="en-IN" sz="1800" b="0" i="0" dirty="0">
                <a:solidFill>
                  <a:srgbClr val="000000"/>
                </a:solidFill>
                <a:effectLst/>
                <a:latin typeface="Times New Roman" panose="02020603050405020304" pitchFamily="18" charset="0"/>
                <a:ea typeface="SimSun" panose="02010600030101010101" pitchFamily="2" charset="-122"/>
              </a:rPr>
              <a:t>[8] H. Wang and L. Zhou, “IPFS-Based Distributed Storage for Secure Cloud Applications,” </a:t>
            </a:r>
            <a:r>
              <a:rPr lang="en-IN" sz="1800" b="0" i="1" dirty="0">
                <a:solidFill>
                  <a:srgbClr val="000000"/>
                </a:solidFill>
                <a:effectLst/>
                <a:latin typeface="Times New Roman" panose="02020603050405020304" pitchFamily="18" charset="0"/>
                <a:ea typeface="SimSun" panose="02010600030101010101" pitchFamily="2" charset="-122"/>
              </a:rPr>
              <a:t>IEEE Cloud Computing</a:t>
            </a:r>
            <a:r>
              <a:rPr lang="en-IN" sz="1800" b="0" i="0" dirty="0">
                <a:solidFill>
                  <a:srgbClr val="000000"/>
                </a:solidFill>
                <a:effectLst/>
                <a:latin typeface="Times New Roman" panose="02020603050405020304" pitchFamily="18" charset="0"/>
                <a:ea typeface="SimSun" panose="02010600030101010101" pitchFamily="2" charset="-122"/>
              </a:rPr>
              <a:t>, vol. 10, no. 2, pp. 45–54, 2023.</a:t>
            </a:r>
            <a:endParaRPr lang="en-IN" sz="1800" dirty="0">
              <a:effectLst/>
              <a:latin typeface="Times New Roman" panose="02020603050405020304" pitchFamily="18" charset="0"/>
              <a:ea typeface="SimSun" panose="02010600030101010101" pitchFamily="2" charset="-122"/>
            </a:endParaRPr>
          </a:p>
        </p:txBody>
      </p:sp>
    </p:spTree>
    <p:extLst>
      <p:ext uri="{BB962C8B-B14F-4D97-AF65-F5344CB8AC3E}">
        <p14:creationId xmlns:p14="http://schemas.microsoft.com/office/powerpoint/2010/main" val="1190985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06CCC5-2FC0-99E2-4DEF-8A1484D0F293}"/>
              </a:ext>
            </a:extLst>
          </p:cNvPr>
          <p:cNvSpPr>
            <a:spLocks noGrp="1"/>
          </p:cNvSpPr>
          <p:nvPr>
            <p:ph type="title"/>
          </p:nvPr>
        </p:nvSpPr>
        <p:spPr/>
        <p:txBody>
          <a:bodyPr/>
          <a:lstStyle/>
          <a:p>
            <a:r>
              <a:rPr lang="en-US" dirty="0"/>
              <a:t>.</a:t>
            </a:r>
            <a:endParaRPr lang="en-IN" dirty="0"/>
          </a:p>
        </p:txBody>
      </p:sp>
      <p:sp>
        <p:nvSpPr>
          <p:cNvPr id="4" name="Text Placeholder 3">
            <a:extLst>
              <a:ext uri="{FF2B5EF4-FFF2-40B4-BE49-F238E27FC236}">
                <a16:creationId xmlns:a16="http://schemas.microsoft.com/office/drawing/2014/main" id="{9D239A7A-CCB0-BD26-D4A0-6C4571DA8503}"/>
              </a:ext>
            </a:extLst>
          </p:cNvPr>
          <p:cNvSpPr>
            <a:spLocks noGrp="1"/>
          </p:cNvSpPr>
          <p:nvPr>
            <p:ph type="body" sz="half" idx="2"/>
          </p:nvPr>
        </p:nvSpPr>
        <p:spPr/>
        <p:txBody>
          <a:bodyPr/>
          <a:lstStyle/>
          <a:p>
            <a:r>
              <a:rPr lang="en-US" dirty="0"/>
              <a:t>.</a:t>
            </a:r>
            <a:endParaRPr lang="en-IN" dirty="0"/>
          </a:p>
        </p:txBody>
      </p:sp>
      <p:pic>
        <p:nvPicPr>
          <p:cNvPr id="5122" name="Picture 2" descr="Thank You Digital Images – Browse 89 ...">
            <a:extLst>
              <a:ext uri="{FF2B5EF4-FFF2-40B4-BE49-F238E27FC236}">
                <a16:creationId xmlns:a16="http://schemas.microsoft.com/office/drawing/2014/main" id="{6C9F073A-194B-D961-B4F8-8FDAA4DA69C2}"/>
              </a:ext>
            </a:extLst>
          </p:cNvPr>
          <p:cNvPicPr>
            <a:picLocks noGrp="1" noChangeAspect="1" noChangeArrowheads="1"/>
          </p:cNvPicPr>
          <p:nvPr>
            <p:ph type="pic" idx="1"/>
          </p:nvPr>
        </p:nvPicPr>
        <p:blipFill>
          <a:blip r:embed="rId2">
            <a:extLst>
              <a:ext uri="{28A0092B-C50C-407E-A947-70E740481C1C}">
                <a14:useLocalDpi xmlns:a14="http://schemas.microsoft.com/office/drawing/2010/main" val="0"/>
              </a:ext>
            </a:extLst>
          </a:blip>
          <a:srcRect t="17197" b="17197"/>
          <a:stretch>
            <a:fillRect/>
          </a:stretch>
        </p:blipFill>
        <p:spPr bwMode="auto">
          <a:xfrm>
            <a:off x="15" y="0"/>
            <a:ext cx="1219198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886901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2.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{F25FEF06-3969-4066-8E87-88B0C040C2F6}TFf0a5ceae-4542-492d-822e-d65a94fb0e1e3b562c5a_win32-009a0557e699</Template>
  <TotalTime>517</TotalTime>
  <Words>1036</Words>
  <Application>Microsoft Office PowerPoint</Application>
  <PresentationFormat>Widescreen</PresentationFormat>
  <Paragraphs>85</Paragraphs>
  <Slides>12</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vt:i4>
      </vt:variant>
    </vt:vector>
  </HeadingPairs>
  <TitlesOfParts>
    <vt:vector size="23" baseType="lpstr">
      <vt:lpstr>Aptos</vt:lpstr>
      <vt:lpstr>ArEL</vt:lpstr>
      <vt:lpstr>Arial</vt:lpstr>
      <vt:lpstr>Bookman Old Style</vt:lpstr>
      <vt:lpstr>Calibri</vt:lpstr>
      <vt:lpstr>Cambria</vt:lpstr>
      <vt:lpstr>Courier New</vt:lpstr>
      <vt:lpstr>Franklin Gothic Book</vt:lpstr>
      <vt:lpstr>Times New Roman</vt:lpstr>
      <vt:lpstr>Wingdings</vt:lpstr>
      <vt:lpstr>Custom</vt:lpstr>
      <vt:lpstr>PowerPoint Presentation</vt:lpstr>
      <vt:lpstr>LIST OF CONTENTS</vt:lpstr>
      <vt:lpstr>ABSTRACT</vt:lpstr>
      <vt:lpstr>INTRODUCTION</vt:lpstr>
      <vt:lpstr>OBJECTIVES</vt:lpstr>
      <vt:lpstr>LITERATURE SURVEY</vt:lpstr>
      <vt:lpstr>EXISTING SYSTEM</vt:lpstr>
      <vt:lpstr>PROPOSED SYSTEM</vt:lpstr>
      <vt:lpstr>SYSTEM REQUIREMENTS</vt:lpstr>
      <vt:lpstr>CONCLUSION</vt:lpstr>
      <vt:lpstr>PowerPoint Presentation</vt:lpstr>
      <vt:lpst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Praveen Ramavath</dc:creator>
  <cp:lastModifiedBy>malothupremkumar1@gmail.com</cp:lastModifiedBy>
  <cp:revision>11</cp:revision>
  <dcterms:created xsi:type="dcterms:W3CDTF">2026-03-13T17:01:50Z</dcterms:created>
  <dcterms:modified xsi:type="dcterms:W3CDTF">2026-04-13T12:57:02Z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